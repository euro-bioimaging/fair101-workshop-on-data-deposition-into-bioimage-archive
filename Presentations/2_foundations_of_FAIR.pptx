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307" r:id="rId3"/>
    <p:sldId id="263" r:id="rId4"/>
    <p:sldId id="365" r:id="rId5"/>
    <p:sldId id="283" r:id="rId6"/>
    <p:sldId id="286" r:id="rId7"/>
    <p:sldId id="298" r:id="rId8"/>
    <p:sldId id="276" r:id="rId9"/>
    <p:sldId id="284" r:id="rId10"/>
    <p:sldId id="296" r:id="rId11"/>
  </p:sldIdLst>
  <p:sldSz cx="12192000" cy="6858000"/>
  <p:notesSz cx="6858000" cy="91440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Poppins" panose="00000500000000000000" pitchFamily="2" charset="0"/>
      <p:regular r:id="rId17"/>
      <p:bold r:id="rId18"/>
      <p:italic r:id="rId19"/>
      <p:boldItalic r:id="rId20"/>
    </p:embeddedFont>
    <p:embeddedFont>
      <p:font typeface="Source Sans 3" panose="020B0303030403020204" pitchFamily="34" charset="0"/>
      <p:regular r:id="rId21"/>
      <p:bold r:id="rId22"/>
      <p:italic r:id="rId23"/>
      <p:boldItalic r:id="rId24"/>
    </p:embeddedFont>
    <p:embeddedFont>
      <p:font typeface="Source Sans 3 Light" panose="020B0303030403020204" pitchFamily="34" charset="0"/>
      <p:regular r:id="rId25"/>
      <p:italic r:id="rId26"/>
    </p:embeddedFont>
    <p:embeddedFont>
      <p:font typeface="Source Sans Pro" panose="020B0503030403020204" pitchFamily="34" charset="0"/>
      <p:regular r:id="rId27"/>
      <p:bold r:id="rId28"/>
      <p:italic r:id="rId29"/>
      <p:boldItalic r:id="rId30"/>
    </p:embeddedFont>
    <p:embeddedFont>
      <p:font typeface="Source Sans Pro Light" panose="020B0403030403020204" pitchFamily="34" charset="0"/>
      <p:regular r:id="rId31"/>
      <p: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13" roundtripDataSignature="AMtx7mjU2kmgFhg9Fu5kg1WtbSCaf9O8Lg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Isabel Marina Kemmer" initials="IMK" lastIdx="4" clrIdx="0">
    <p:extLst>
      <p:ext uri="{19B8F6BF-5375-455C-9EA6-DF929625EA0E}">
        <p15:presenceInfo xmlns:p15="http://schemas.microsoft.com/office/powerpoint/2012/main" userId="S-1-5-21-1497788874-1411181035-1467742474-2368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004C"/>
    <a:srgbClr val="688B9E"/>
    <a:srgbClr val="FEED9A"/>
    <a:srgbClr val="FFFF99"/>
    <a:srgbClr val="CCEFDC"/>
    <a:srgbClr val="CCDEA2"/>
    <a:srgbClr val="81C3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6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32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font" Target="fonts/font14.fntdata"/><Relationship Id="rId117" Type="http://schemas.openxmlformats.org/officeDocument/2006/relationships/theme" Target="theme/theme1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font" Target="fonts/font13.fntdata"/><Relationship Id="rId116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openxmlformats.org/officeDocument/2006/relationships/font" Target="fonts/font1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32" Type="http://schemas.openxmlformats.org/officeDocument/2006/relationships/font" Target="fonts/font20.fntdata"/><Relationship Id="rId11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font" Target="fonts/font16.fntdata"/><Relationship Id="rId114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31" Type="http://schemas.openxmlformats.org/officeDocument/2006/relationships/font" Target="fonts/font1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font" Target="fonts/font15.fntdata"/><Relationship Id="rId30" Type="http://schemas.openxmlformats.org/officeDocument/2006/relationships/font" Target="fonts/font18.fntdata"/><Relationship Id="rId113" Type="http://customschemas.google.com/relationships/presentationmetadata" Target="metadata"/><Relationship Id="rId11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Title" type="picTx">
  <p:cSld name="PICTURE_WITH_CAPTION_TEXT"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55" descr="A picture containing graphics, black, circle&#10;&#10;Description automatically generated"/>
          <p:cNvPicPr preferRelativeResize="0"/>
          <p:nvPr/>
        </p:nvPicPr>
        <p:blipFill rotWithShape="1">
          <a:blip r:embed="rId2">
            <a:alphaModFix amt="2000"/>
          </a:blip>
          <a:srcRect l="-1" t="24051" r="51710" b="12892"/>
          <a:stretch/>
        </p:blipFill>
        <p:spPr>
          <a:xfrm>
            <a:off x="7289565" y="0"/>
            <a:ext cx="490243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55"/>
          <p:cNvSpPr txBox="1">
            <a:spLocks noGrp="1"/>
          </p:cNvSpPr>
          <p:nvPr>
            <p:ph type="title"/>
          </p:nvPr>
        </p:nvSpPr>
        <p:spPr>
          <a:xfrm>
            <a:off x="839788" y="2219324"/>
            <a:ext cx="3932237" cy="1149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Source Sans 3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8" name="Google Shape;208;p5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209" name="Google Shape;209;p55"/>
          <p:cNvSpPr txBox="1">
            <a:spLocks noGrp="1"/>
          </p:cNvSpPr>
          <p:nvPr>
            <p:ph type="body" idx="1"/>
          </p:nvPr>
        </p:nvSpPr>
        <p:spPr>
          <a:xfrm>
            <a:off x="839788" y="3369266"/>
            <a:ext cx="3932237" cy="97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grpSp>
        <p:nvGrpSpPr>
          <p:cNvPr id="210" name="Google Shape;210;p55"/>
          <p:cNvGrpSpPr/>
          <p:nvPr/>
        </p:nvGrpSpPr>
        <p:grpSpPr>
          <a:xfrm>
            <a:off x="0" y="6411858"/>
            <a:ext cx="12192000" cy="390162"/>
            <a:chOff x="0" y="6411858"/>
            <a:chExt cx="12192000" cy="390162"/>
          </a:xfrm>
        </p:grpSpPr>
        <p:pic>
          <p:nvPicPr>
            <p:cNvPr id="211" name="Google Shape;211;p55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811140" y="6449118"/>
              <a:ext cx="1011183" cy="352902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12" name="Google Shape;212;p55"/>
            <p:cNvGrpSpPr/>
            <p:nvPr/>
          </p:nvGrpSpPr>
          <p:grpSpPr>
            <a:xfrm>
              <a:off x="2810157" y="6529764"/>
              <a:ext cx="1894100" cy="218154"/>
              <a:chOff x="2810157" y="6503637"/>
              <a:chExt cx="1894100" cy="218154"/>
            </a:xfrm>
          </p:grpSpPr>
          <p:pic>
            <p:nvPicPr>
              <p:cNvPr id="213" name="Google Shape;213;p55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2810157" y="6505200"/>
                <a:ext cx="216073" cy="21659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14" name="Google Shape;214;p55"/>
              <p:cNvSpPr txBox="1"/>
              <p:nvPr/>
            </p:nvSpPr>
            <p:spPr>
              <a:xfrm>
                <a:off x="3007434" y="6503637"/>
                <a:ext cx="1696823" cy="215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en-GB" sz="800" b="0" i="0" u="none" strike="noStrike" cap="none">
                    <a:solidFill>
                      <a:schemeClr val="dk2"/>
                    </a:solidFill>
                    <a:latin typeface="Source Sans 3"/>
                    <a:ea typeface="Source Sans 3"/>
                    <a:cs typeface="Source Sans 3"/>
                    <a:sym typeface="Source Sans 3"/>
                  </a:rPr>
                  <a:t>w w w . e u r o b i o I m a g i n g . e u</a:t>
                </a:r>
                <a:endParaRPr sz="800" b="0" i="0" u="none" strike="noStrike" cap="none">
                  <a:solidFill>
                    <a:schemeClr val="dk2"/>
                  </a:solidFill>
                  <a:latin typeface="Source Sans 3"/>
                  <a:ea typeface="Source Sans 3"/>
                  <a:cs typeface="Source Sans 3"/>
                  <a:sym typeface="Source Sans 3"/>
                </a:endParaRPr>
              </a:p>
            </p:txBody>
          </p:sp>
        </p:grpSp>
        <p:grpSp>
          <p:nvGrpSpPr>
            <p:cNvPr id="215" name="Google Shape;215;p55"/>
            <p:cNvGrpSpPr/>
            <p:nvPr/>
          </p:nvGrpSpPr>
          <p:grpSpPr>
            <a:xfrm>
              <a:off x="6405468" y="6531901"/>
              <a:ext cx="2088004" cy="216591"/>
              <a:chOff x="6405468" y="6505774"/>
              <a:chExt cx="2088004" cy="216591"/>
            </a:xfrm>
          </p:grpSpPr>
          <p:pic>
            <p:nvPicPr>
              <p:cNvPr id="216" name="Google Shape;216;p55"/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>
                <a:off x="6405468" y="6505774"/>
                <a:ext cx="216591" cy="21659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17" name="Google Shape;217;p55"/>
              <p:cNvSpPr txBox="1"/>
              <p:nvPr/>
            </p:nvSpPr>
            <p:spPr>
              <a:xfrm>
                <a:off x="6596387" y="6506607"/>
                <a:ext cx="1897085" cy="21540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en-GB" sz="800" b="0" i="0" u="none" strike="noStrike" cap="none">
                    <a:solidFill>
                      <a:schemeClr val="dk2"/>
                    </a:solidFill>
                    <a:latin typeface="Source Sans 3"/>
                    <a:ea typeface="Source Sans 3"/>
                    <a:cs typeface="Source Sans 3"/>
                    <a:sym typeface="Source Sans 3"/>
                  </a:rPr>
                  <a:t>i n f o @ e u r o b i o i m a g i n g . e u</a:t>
                </a:r>
                <a:endParaRPr sz="800" b="0" i="0" u="none" strike="noStrike" cap="none">
                  <a:solidFill>
                    <a:schemeClr val="dk2"/>
                  </a:solidFill>
                  <a:latin typeface="Source Sans 3"/>
                  <a:ea typeface="Source Sans 3"/>
                  <a:cs typeface="Source Sans 3"/>
                  <a:sym typeface="Source Sans 3"/>
                </a:endParaRPr>
              </a:p>
            </p:txBody>
          </p:sp>
        </p:grpSp>
        <p:sp>
          <p:nvSpPr>
            <p:cNvPr id="218" name="Google Shape;218;p55"/>
            <p:cNvSpPr txBox="1"/>
            <p:nvPr/>
          </p:nvSpPr>
          <p:spPr>
            <a:xfrm>
              <a:off x="10110843" y="6529764"/>
              <a:ext cx="1270017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GB" sz="800" b="0" i="0" u="none" strike="noStrike" cap="none">
                  <a:solidFill>
                    <a:schemeClr val="dk2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@ E u r o B i o I m a g i n g</a:t>
              </a:r>
              <a:endParaRPr sz="800" b="0" i="0" u="none" strike="noStrike" cap="non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endParaRPr>
            </a:p>
          </p:txBody>
        </p:sp>
        <p:cxnSp>
          <p:nvCxnSpPr>
            <p:cNvPr id="219" name="Google Shape;219;p55"/>
            <p:cNvCxnSpPr/>
            <p:nvPr/>
          </p:nvCxnSpPr>
          <p:spPr>
            <a:xfrm>
              <a:off x="0" y="6411858"/>
              <a:ext cx="12192000" cy="0"/>
            </a:xfrm>
            <a:prstGeom prst="straightConnector1">
              <a:avLst/>
            </a:prstGeom>
            <a:noFill/>
            <a:ln w="9525" cap="flat" cmpd="sng">
              <a:solidFill>
                <a:srgbClr val="EDEEE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pic>
        <p:nvPicPr>
          <p:cNvPr id="220" name="Google Shape;220;p5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931501" y="6552551"/>
            <a:ext cx="183561" cy="1835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_Picture with Caption">
  <p:cSld name="8_Picture with Caption"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62"/>
          <p:cNvSpPr/>
          <p:nvPr/>
        </p:nvSpPr>
        <p:spPr>
          <a:xfrm>
            <a:off x="-1590" y="0"/>
            <a:ext cx="6096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pic>
        <p:nvPicPr>
          <p:cNvPr id="319" name="Google Shape;319;p62" descr="A picture containing graphics, black, circle&#10;&#10;Description automatically generated"/>
          <p:cNvPicPr preferRelativeResize="0"/>
          <p:nvPr/>
        </p:nvPicPr>
        <p:blipFill rotWithShape="1">
          <a:blip r:embed="rId2">
            <a:alphaModFix amt="2000"/>
          </a:blip>
          <a:srcRect l="-1" t="24051" r="51710" b="12892"/>
          <a:stretch/>
        </p:blipFill>
        <p:spPr>
          <a:xfrm>
            <a:off x="7289565" y="0"/>
            <a:ext cx="490243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62"/>
          <p:cNvSpPr txBox="1">
            <a:spLocks noGrp="1"/>
          </p:cNvSpPr>
          <p:nvPr>
            <p:ph type="body" idx="1"/>
          </p:nvPr>
        </p:nvSpPr>
        <p:spPr>
          <a:xfrm>
            <a:off x="6536580" y="1609673"/>
            <a:ext cx="5259389" cy="4356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321" name="Google Shape;321;p62"/>
          <p:cNvSpPr txBox="1">
            <a:spLocks noGrp="1"/>
          </p:cNvSpPr>
          <p:nvPr>
            <p:ph type="title"/>
          </p:nvPr>
        </p:nvSpPr>
        <p:spPr>
          <a:xfrm>
            <a:off x="6536580" y="592183"/>
            <a:ext cx="5257799" cy="1014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Source Sans 3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2" name="Google Shape;322;p62"/>
          <p:cNvSpPr>
            <a:spLocks noGrp="1"/>
          </p:cNvSpPr>
          <p:nvPr>
            <p:ph type="pic" idx="2"/>
          </p:nvPr>
        </p:nvSpPr>
        <p:spPr>
          <a:xfrm>
            <a:off x="396032" y="446141"/>
            <a:ext cx="5343018" cy="5519574"/>
          </a:xfrm>
          <a:prstGeom prst="rect">
            <a:avLst/>
          </a:prstGeom>
          <a:noFill/>
          <a:ln>
            <a:noFill/>
          </a:ln>
        </p:spPr>
      </p:sp>
      <p:pic>
        <p:nvPicPr>
          <p:cNvPr id="323" name="Google Shape;323;p62" descr="A picture containing graphics, font, graphic design, screenshot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1140" y="6441167"/>
            <a:ext cx="1011183" cy="3529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ogo">
  <p:cSld name="Logo"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7" name="Google Shape;347;p64" descr="A picture containing screenshot, graphics, green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333500" y="1766887"/>
            <a:ext cx="9525000" cy="33242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48" name="Google Shape;348;p64"/>
          <p:cNvGrpSpPr/>
          <p:nvPr/>
        </p:nvGrpSpPr>
        <p:grpSpPr>
          <a:xfrm>
            <a:off x="0" y="6411858"/>
            <a:ext cx="12192000" cy="390162"/>
            <a:chOff x="0" y="6411858"/>
            <a:chExt cx="12192000" cy="390162"/>
          </a:xfrm>
        </p:grpSpPr>
        <p:pic>
          <p:nvPicPr>
            <p:cNvPr id="349" name="Google Shape;349;p64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811140" y="6449118"/>
              <a:ext cx="1011183" cy="352902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50" name="Google Shape;350;p64"/>
            <p:cNvGrpSpPr/>
            <p:nvPr/>
          </p:nvGrpSpPr>
          <p:grpSpPr>
            <a:xfrm>
              <a:off x="2810157" y="6529764"/>
              <a:ext cx="1894100" cy="218154"/>
              <a:chOff x="2810157" y="6503637"/>
              <a:chExt cx="1894100" cy="218154"/>
            </a:xfrm>
          </p:grpSpPr>
          <p:pic>
            <p:nvPicPr>
              <p:cNvPr id="351" name="Google Shape;351;p64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2810157" y="6505200"/>
                <a:ext cx="216073" cy="21659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52" name="Google Shape;352;p64"/>
              <p:cNvSpPr txBox="1"/>
              <p:nvPr/>
            </p:nvSpPr>
            <p:spPr>
              <a:xfrm>
                <a:off x="3007434" y="6503637"/>
                <a:ext cx="1696823" cy="215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en-GB" sz="800" b="0" i="0" u="none" strike="noStrike" cap="none">
                    <a:solidFill>
                      <a:schemeClr val="dk2"/>
                    </a:solidFill>
                    <a:latin typeface="Source Sans 3"/>
                    <a:ea typeface="Source Sans 3"/>
                    <a:cs typeface="Source Sans 3"/>
                    <a:sym typeface="Source Sans 3"/>
                  </a:rPr>
                  <a:t>w w w . e u r o b i o I m a g i n g . e u</a:t>
                </a:r>
                <a:endParaRPr sz="800" b="0" i="0" u="none" strike="noStrike" cap="none">
                  <a:solidFill>
                    <a:schemeClr val="dk2"/>
                  </a:solidFill>
                  <a:latin typeface="Source Sans 3"/>
                  <a:ea typeface="Source Sans 3"/>
                  <a:cs typeface="Source Sans 3"/>
                  <a:sym typeface="Source Sans 3"/>
                </a:endParaRPr>
              </a:p>
            </p:txBody>
          </p:sp>
        </p:grpSp>
        <p:grpSp>
          <p:nvGrpSpPr>
            <p:cNvPr id="353" name="Google Shape;353;p64"/>
            <p:cNvGrpSpPr/>
            <p:nvPr/>
          </p:nvGrpSpPr>
          <p:grpSpPr>
            <a:xfrm>
              <a:off x="6405468" y="6531901"/>
              <a:ext cx="2027348" cy="216591"/>
              <a:chOff x="6405468" y="6505774"/>
              <a:chExt cx="2027348" cy="216591"/>
            </a:xfrm>
          </p:grpSpPr>
          <p:pic>
            <p:nvPicPr>
              <p:cNvPr id="354" name="Google Shape;354;p64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6405468" y="6505774"/>
                <a:ext cx="216591" cy="21659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55" name="Google Shape;355;p64"/>
              <p:cNvSpPr txBox="1"/>
              <p:nvPr/>
            </p:nvSpPr>
            <p:spPr>
              <a:xfrm>
                <a:off x="6596387" y="6506607"/>
                <a:ext cx="1836429" cy="21540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en-GB" sz="800" b="0" i="0" u="none" strike="noStrike" cap="none">
                    <a:solidFill>
                      <a:schemeClr val="dk2"/>
                    </a:solidFill>
                    <a:latin typeface="Source Sans 3"/>
                    <a:ea typeface="Source Sans 3"/>
                    <a:cs typeface="Source Sans 3"/>
                    <a:sym typeface="Source Sans 3"/>
                  </a:rPr>
                  <a:t>i n f o @ e u r o b i o i m a g i n g . e u</a:t>
                </a:r>
                <a:endParaRPr sz="800" b="0" i="0" u="none" strike="noStrike" cap="none">
                  <a:solidFill>
                    <a:schemeClr val="dk2"/>
                  </a:solidFill>
                  <a:latin typeface="Source Sans 3"/>
                  <a:ea typeface="Source Sans 3"/>
                  <a:cs typeface="Source Sans 3"/>
                  <a:sym typeface="Source Sans 3"/>
                </a:endParaRPr>
              </a:p>
            </p:txBody>
          </p:sp>
        </p:grpSp>
        <p:sp>
          <p:nvSpPr>
            <p:cNvPr id="356" name="Google Shape;356;p64"/>
            <p:cNvSpPr txBox="1"/>
            <p:nvPr/>
          </p:nvSpPr>
          <p:spPr>
            <a:xfrm>
              <a:off x="10110843" y="6529764"/>
              <a:ext cx="1270017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GB" sz="800" b="0" i="0" u="none" strike="noStrike" cap="none">
                  <a:solidFill>
                    <a:schemeClr val="dk2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@ E u r o B i o I m a g i n g</a:t>
              </a:r>
              <a:endParaRPr sz="800" b="0" i="0" u="none" strike="noStrike" cap="non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endParaRPr>
            </a:p>
          </p:txBody>
        </p:sp>
        <p:cxnSp>
          <p:nvCxnSpPr>
            <p:cNvPr id="357" name="Google Shape;357;p64"/>
            <p:cNvCxnSpPr/>
            <p:nvPr/>
          </p:nvCxnSpPr>
          <p:spPr>
            <a:xfrm>
              <a:off x="0" y="6411858"/>
              <a:ext cx="12192000" cy="0"/>
            </a:xfrm>
            <a:prstGeom prst="straightConnector1">
              <a:avLst/>
            </a:prstGeom>
            <a:noFill/>
            <a:ln w="9525" cap="flat" cmpd="sng">
              <a:solidFill>
                <a:srgbClr val="EDEEE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pic>
        <p:nvPicPr>
          <p:cNvPr id="358" name="Google Shape;358;p6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931501" y="6552551"/>
            <a:ext cx="183561" cy="1835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Empty-white">
  <p:cSld name="1_Empty-white"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5"/>
          <p:cNvSpPr txBox="1">
            <a:spLocks noGrp="1"/>
          </p:cNvSpPr>
          <p:nvPr>
            <p:ph type="dt" idx="10"/>
          </p:nvPr>
        </p:nvSpPr>
        <p:spPr>
          <a:xfrm>
            <a:off x="2148840" y="6356350"/>
            <a:ext cx="143256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3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3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50" name="Google Shape;150;p3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81000" y="6252397"/>
            <a:ext cx="1642683" cy="57302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729351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Source Sans 3"/>
              <a:buNone/>
              <a:defRPr sz="3200" b="0" i="0" u="none" strike="noStrike" cap="non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3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4pPr>
            <a:lvl5pPr marL="2286000" marR="0" lvl="4" indent="-2984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9pPr>
          </a:lstStyle>
          <a:p>
            <a:endParaRPr/>
          </a:p>
        </p:txBody>
      </p:sp>
      <p:sp>
        <p:nvSpPr>
          <p:cNvPr id="8" name="Google Shape;8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A8A8B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9pPr>
          </a:lstStyle>
          <a:p>
            <a:endParaRPr/>
          </a:p>
        </p:txBody>
      </p:sp>
      <p:sp>
        <p:nvSpPr>
          <p:cNvPr id="9" name="Google Shape;9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A8A8B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9pPr>
          </a:lstStyle>
          <a:p>
            <a:endParaRPr/>
          </a:p>
        </p:txBody>
      </p:sp>
      <p:sp>
        <p:nvSpPr>
          <p:cNvPr id="10" name="Google Shape;10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8B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8B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8B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8B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8B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8B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8B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8B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8B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  <p:sldLayoutId id="2147483670" r:id="rId2"/>
    <p:sldLayoutId id="2147483672" r:id="rId3"/>
    <p:sldLayoutId id="2147483673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creativecommons.org/licenses/by/4.0/" TargetMode="External"/><Relationship Id="rId5" Type="http://schemas.openxmlformats.org/officeDocument/2006/relationships/hyperlink" Target="https://numfocus.org/" TargetMode="External"/><Relationship Id="rId4" Type="http://schemas.openxmlformats.org/officeDocument/2006/relationships/hyperlink" Target="https://falk-illustrations.de/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openmicroscopy.org/omero/" TargetMode="Externa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F81C8179-3682-45BF-AC53-8C4274700C1A}"/>
              </a:ext>
            </a:extLst>
          </p:cNvPr>
          <p:cNvSpPr txBox="1"/>
          <p:nvPr/>
        </p:nvSpPr>
        <p:spPr>
          <a:xfrm>
            <a:off x="1719643" y="1883052"/>
            <a:ext cx="1009035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4400" dirty="0">
                <a:solidFill>
                  <a:schemeClr val="bg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FAIR 101 – </a:t>
            </a:r>
            <a:r>
              <a:rPr lang="de-DE" sz="4400" dirty="0" err="1">
                <a:solidFill>
                  <a:schemeClr val="bg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Depositing</a:t>
            </a:r>
            <a:r>
              <a:rPr lang="de-DE" sz="4400" dirty="0">
                <a:solidFill>
                  <a:schemeClr val="bg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de-DE" sz="4400" dirty="0" err="1">
                <a:solidFill>
                  <a:schemeClr val="bg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bioimage</a:t>
            </a:r>
            <a:r>
              <a:rPr lang="de-DE" sz="4400" dirty="0">
                <a:solidFill>
                  <a:schemeClr val="bg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de-DE" sz="4400" dirty="0" err="1">
                <a:solidFill>
                  <a:schemeClr val="bg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data</a:t>
            </a:r>
            <a:r>
              <a:rPr lang="de-DE" sz="4400" dirty="0">
                <a:solidFill>
                  <a:schemeClr val="bg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in open </a:t>
            </a:r>
            <a:r>
              <a:rPr lang="de-DE" sz="4400" dirty="0" err="1">
                <a:solidFill>
                  <a:schemeClr val="bg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repositories</a:t>
            </a:r>
            <a:endParaRPr lang="en-US" sz="4400" dirty="0">
              <a:solidFill>
                <a:schemeClr val="bg2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4C1D961-1E35-4AA3-B32A-9353E8D7B069}"/>
              </a:ext>
            </a:extLst>
          </p:cNvPr>
          <p:cNvSpPr txBox="1"/>
          <p:nvPr/>
        </p:nvSpPr>
        <p:spPr>
          <a:xfrm>
            <a:off x="6782540" y="5602044"/>
            <a:ext cx="51344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2000" dirty="0">
                <a:solidFill>
                  <a:schemeClr val="bg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Trends in </a:t>
            </a:r>
            <a:r>
              <a:rPr lang="de-DE" sz="2000" dirty="0" err="1">
                <a:solidFill>
                  <a:schemeClr val="bg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Microscopy</a:t>
            </a:r>
            <a:r>
              <a:rPr lang="de-DE" sz="2000" dirty="0">
                <a:solidFill>
                  <a:schemeClr val="bg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2025</a:t>
            </a:r>
            <a:br>
              <a:rPr lang="de-DE" sz="2000" dirty="0">
                <a:solidFill>
                  <a:schemeClr val="bg2"/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de-DE" sz="2000" dirty="0">
                <a:solidFill>
                  <a:schemeClr val="bg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17.-21. March 2025</a:t>
            </a:r>
            <a:endParaRPr lang="en-US" sz="2000" dirty="0">
              <a:solidFill>
                <a:schemeClr val="bg2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B2D4333-0809-427D-B1A0-688BD8FC009E}"/>
              </a:ext>
            </a:extLst>
          </p:cNvPr>
          <p:cNvSpPr txBox="1"/>
          <p:nvPr/>
        </p:nvSpPr>
        <p:spPr>
          <a:xfrm>
            <a:off x="2991991" y="3705854"/>
            <a:ext cx="89249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Isabel Kemmer</a:t>
            </a:r>
          </a:p>
          <a:p>
            <a:r>
              <a:rPr lang="de-DE" sz="20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FAIR Image Data Steward, Euro-</a:t>
            </a:r>
            <a:r>
              <a:rPr lang="de-DE" sz="20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BioImaging</a:t>
            </a:r>
            <a:r>
              <a:rPr lang="de-DE" sz="20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Bio-Hub</a:t>
            </a:r>
            <a:endParaRPr lang="en-US" sz="200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6591A3E4-7386-4575-9BB5-9EAB1DF949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3765" y="5755443"/>
            <a:ext cx="1390218" cy="310175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6803F029-1406-4FC5-91B4-2028C57C60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059" y="5602044"/>
            <a:ext cx="838896" cy="567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0087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BE261-C5A7-4BD9-9E82-C01693B613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0"/>
            <a:ext cx="10733103" cy="1149941"/>
          </a:xfrm>
        </p:spPr>
        <p:txBody>
          <a:bodyPr/>
          <a:lstStyle/>
          <a:p>
            <a:r>
              <a:rPr lang="de-DE" dirty="0"/>
              <a:t>This </a:t>
            </a:r>
            <a:r>
              <a:rPr lang="de-DE" dirty="0" err="1"/>
              <a:t>workshop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753F546-4487-4118-8664-6D0B84726DAD}"/>
              </a:ext>
            </a:extLst>
          </p:cNvPr>
          <p:cNvSpPr/>
          <p:nvPr/>
        </p:nvSpPr>
        <p:spPr>
          <a:xfrm>
            <a:off x="1364845" y="1839298"/>
            <a:ext cx="4598634" cy="719091"/>
          </a:xfrm>
          <a:prstGeom prst="rect">
            <a:avLst/>
          </a:prstGeom>
          <a:solidFill>
            <a:srgbClr val="CCD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dirty="0" err="1">
                <a:solidFill>
                  <a:srgbClr val="688B9E"/>
                </a:solidFill>
                <a:latin typeface="Source Sans 3" panose="020B0303030403020204" pitchFamily="34" charset="0"/>
              </a:rPr>
              <a:t>Introduction</a:t>
            </a:r>
            <a:r>
              <a:rPr lang="de-DE" sz="2000" dirty="0">
                <a:solidFill>
                  <a:srgbClr val="688B9E"/>
                </a:solidFill>
                <a:latin typeface="Source Sans 3" panose="020B0303030403020204" pitchFamily="34" charset="0"/>
              </a:rPr>
              <a:t> </a:t>
            </a:r>
            <a:r>
              <a:rPr lang="de-DE" sz="2000" dirty="0" err="1">
                <a:solidFill>
                  <a:srgbClr val="688B9E"/>
                </a:solidFill>
                <a:latin typeface="Source Sans 3" panose="020B0303030403020204" pitchFamily="34" charset="0"/>
              </a:rPr>
              <a:t>into</a:t>
            </a:r>
            <a:r>
              <a:rPr lang="de-DE" sz="2000" dirty="0">
                <a:solidFill>
                  <a:srgbClr val="688B9E"/>
                </a:solidFill>
                <a:latin typeface="Source Sans 3" panose="020B0303030403020204" pitchFamily="34" charset="0"/>
              </a:rPr>
              <a:t> </a:t>
            </a:r>
            <a:br>
              <a:rPr lang="de-DE" sz="2000" dirty="0">
                <a:solidFill>
                  <a:srgbClr val="688B9E"/>
                </a:solidFill>
                <a:latin typeface="Source Sans 3" panose="020B0303030403020204" pitchFamily="34" charset="0"/>
              </a:rPr>
            </a:br>
            <a:r>
              <a:rPr lang="de-DE" sz="2000" dirty="0">
                <a:solidFill>
                  <a:srgbClr val="688B9E"/>
                </a:solidFill>
                <a:latin typeface="Source Sans 3" panose="020B0303030403020204" pitchFamily="34" charset="0"/>
              </a:rPr>
              <a:t>FAIR </a:t>
            </a:r>
            <a:r>
              <a:rPr lang="de-DE" sz="2000" dirty="0" err="1">
                <a:solidFill>
                  <a:srgbClr val="688B9E"/>
                </a:solidFill>
                <a:latin typeface="Source Sans 3" panose="020B0303030403020204" pitchFamily="34" charset="0"/>
              </a:rPr>
              <a:t>principles</a:t>
            </a:r>
            <a:endParaRPr lang="en-US" sz="2000" dirty="0">
              <a:solidFill>
                <a:srgbClr val="688B9E"/>
              </a:solidFill>
              <a:latin typeface="Source Sans 3" panose="020B0303030403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96B081C-0F89-472C-897B-9727F359A276}"/>
              </a:ext>
            </a:extLst>
          </p:cNvPr>
          <p:cNvSpPr/>
          <p:nvPr/>
        </p:nvSpPr>
        <p:spPr>
          <a:xfrm>
            <a:off x="5963479" y="1840988"/>
            <a:ext cx="4724672" cy="719091"/>
          </a:xfrm>
          <a:prstGeom prst="rect">
            <a:avLst/>
          </a:prstGeom>
          <a:solidFill>
            <a:srgbClr val="688B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dirty="0">
                <a:solidFill>
                  <a:srgbClr val="CCDEA2"/>
                </a:solidFill>
                <a:latin typeface="Source Sans 3" panose="020B0303030403020204" pitchFamily="34" charset="0"/>
              </a:rPr>
              <a:t>Benefits </a:t>
            </a:r>
            <a:r>
              <a:rPr lang="de-DE" sz="2000" dirty="0" err="1">
                <a:solidFill>
                  <a:srgbClr val="CCDEA2"/>
                </a:solidFill>
                <a:latin typeface="Source Sans 3" panose="020B0303030403020204" pitchFamily="34" charset="0"/>
              </a:rPr>
              <a:t>of</a:t>
            </a:r>
            <a:r>
              <a:rPr lang="de-DE" sz="2000" dirty="0">
                <a:solidFill>
                  <a:srgbClr val="CCDEA2"/>
                </a:solidFill>
                <a:latin typeface="Source Sans 3" panose="020B0303030403020204" pitchFamily="34" charset="0"/>
              </a:rPr>
              <a:t> FAIR </a:t>
            </a:r>
            <a:r>
              <a:rPr lang="de-DE" sz="2000" dirty="0" err="1">
                <a:solidFill>
                  <a:srgbClr val="CCDEA2"/>
                </a:solidFill>
                <a:latin typeface="Source Sans 3" panose="020B0303030403020204" pitchFamily="34" charset="0"/>
              </a:rPr>
              <a:t>data</a:t>
            </a:r>
            <a:endParaRPr lang="en-US" sz="2000" dirty="0">
              <a:solidFill>
                <a:srgbClr val="CCDEA2"/>
              </a:solidFill>
              <a:latin typeface="Source Sans 3" panose="020B0303030403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6FCB5E3-D36C-4296-8376-AB3376E6B1F2}"/>
              </a:ext>
            </a:extLst>
          </p:cNvPr>
          <p:cNvSpPr/>
          <p:nvPr/>
        </p:nvSpPr>
        <p:spPr>
          <a:xfrm>
            <a:off x="1364845" y="2712340"/>
            <a:ext cx="4598634" cy="719091"/>
          </a:xfrm>
          <a:prstGeom prst="rect">
            <a:avLst/>
          </a:prstGeom>
          <a:solidFill>
            <a:srgbClr val="CCD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dirty="0" err="1">
                <a:solidFill>
                  <a:srgbClr val="688B9E"/>
                </a:solidFill>
                <a:latin typeface="Source Sans 3" panose="020B0303030403020204" pitchFamily="34" charset="0"/>
              </a:rPr>
              <a:t>Metadata</a:t>
            </a:r>
            <a:endParaRPr lang="en-US" sz="2000" dirty="0">
              <a:solidFill>
                <a:srgbClr val="688B9E"/>
              </a:solidFill>
              <a:latin typeface="Source Sans 3" panose="020B030303040302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9D7C29B-8EB2-4A71-BAE3-9F541335D578}"/>
              </a:ext>
            </a:extLst>
          </p:cNvPr>
          <p:cNvSpPr/>
          <p:nvPr/>
        </p:nvSpPr>
        <p:spPr>
          <a:xfrm>
            <a:off x="5963479" y="2714030"/>
            <a:ext cx="4724672" cy="719091"/>
          </a:xfrm>
          <a:prstGeom prst="rect">
            <a:avLst/>
          </a:prstGeom>
          <a:solidFill>
            <a:srgbClr val="688B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dirty="0">
                <a:solidFill>
                  <a:srgbClr val="CCDEA2"/>
                </a:solidFill>
                <a:latin typeface="Source Sans 3" panose="020B0303030403020204" pitchFamily="34" charset="0"/>
              </a:rPr>
              <a:t>Mix and Match </a:t>
            </a:r>
            <a:r>
              <a:rPr lang="de-DE" sz="2000" dirty="0" err="1">
                <a:solidFill>
                  <a:srgbClr val="CCDEA2"/>
                </a:solidFill>
                <a:latin typeface="Source Sans 3" panose="020B0303030403020204" pitchFamily="34" charset="0"/>
              </a:rPr>
              <a:t>Metadata</a:t>
            </a:r>
            <a:endParaRPr lang="en-US" sz="2000" dirty="0">
              <a:solidFill>
                <a:srgbClr val="CCDEA2"/>
              </a:solidFill>
              <a:latin typeface="Source Sans 3" panose="020B030303040302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5C3641E-F57C-4C17-AE3F-5A0E9AB1D481}"/>
              </a:ext>
            </a:extLst>
          </p:cNvPr>
          <p:cNvSpPr/>
          <p:nvPr/>
        </p:nvSpPr>
        <p:spPr>
          <a:xfrm>
            <a:off x="1364846" y="3597028"/>
            <a:ext cx="4598634" cy="719091"/>
          </a:xfrm>
          <a:prstGeom prst="rect">
            <a:avLst/>
          </a:prstGeom>
          <a:solidFill>
            <a:srgbClr val="CCD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dirty="0" err="1">
                <a:solidFill>
                  <a:srgbClr val="688B9E"/>
                </a:solidFill>
                <a:latin typeface="Source Sans 3" panose="020B0303030403020204" pitchFamily="34" charset="0"/>
              </a:rPr>
              <a:t>Repositories</a:t>
            </a:r>
            <a:endParaRPr lang="en-US" sz="2000" dirty="0">
              <a:solidFill>
                <a:srgbClr val="688B9E"/>
              </a:solidFill>
              <a:latin typeface="Source Sans 3" panose="020B030303040302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213BE05-256A-457B-89B5-A15517F1A03C}"/>
              </a:ext>
            </a:extLst>
          </p:cNvPr>
          <p:cNvSpPr/>
          <p:nvPr/>
        </p:nvSpPr>
        <p:spPr>
          <a:xfrm>
            <a:off x="5963479" y="3598718"/>
            <a:ext cx="4724672" cy="719091"/>
          </a:xfrm>
          <a:prstGeom prst="rect">
            <a:avLst/>
          </a:prstGeom>
          <a:solidFill>
            <a:srgbClr val="688B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dirty="0" err="1">
                <a:solidFill>
                  <a:srgbClr val="CCDEA2"/>
                </a:solidFill>
                <a:latin typeface="Source Sans 3" panose="020B0303030403020204" pitchFamily="34" charset="0"/>
              </a:rPr>
              <a:t>Explore</a:t>
            </a:r>
            <a:r>
              <a:rPr lang="de-DE" sz="2000" dirty="0">
                <a:solidFill>
                  <a:srgbClr val="CCDEA2"/>
                </a:solidFill>
                <a:latin typeface="Source Sans 3" panose="020B0303030403020204" pitchFamily="34" charset="0"/>
              </a:rPr>
              <a:t> </a:t>
            </a:r>
            <a:r>
              <a:rPr lang="de-DE" sz="2000" dirty="0" err="1">
                <a:solidFill>
                  <a:srgbClr val="CCDEA2"/>
                </a:solidFill>
                <a:latin typeface="Source Sans 3" panose="020B0303030403020204" pitchFamily="34" charset="0"/>
              </a:rPr>
              <a:t>repositories</a:t>
            </a:r>
            <a:endParaRPr lang="en-US" sz="2000" dirty="0">
              <a:solidFill>
                <a:srgbClr val="CCDEA2"/>
              </a:solidFill>
              <a:latin typeface="Source Sans 3" panose="020B0303030403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3C4F828-C8B0-4887-B7EE-4AA81C5743F8}"/>
              </a:ext>
            </a:extLst>
          </p:cNvPr>
          <p:cNvSpPr/>
          <p:nvPr/>
        </p:nvSpPr>
        <p:spPr>
          <a:xfrm>
            <a:off x="1364845" y="4464832"/>
            <a:ext cx="4598634" cy="719091"/>
          </a:xfrm>
          <a:prstGeom prst="rect">
            <a:avLst/>
          </a:prstGeom>
          <a:solidFill>
            <a:srgbClr val="CCD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dirty="0">
                <a:solidFill>
                  <a:srgbClr val="688B9E"/>
                </a:solidFill>
                <a:latin typeface="Source Sans 3" panose="020B0303030403020204" pitchFamily="34" charset="0"/>
              </a:rPr>
              <a:t>Deposition </a:t>
            </a:r>
            <a:r>
              <a:rPr lang="de-DE" sz="2000" dirty="0" err="1">
                <a:solidFill>
                  <a:srgbClr val="688B9E"/>
                </a:solidFill>
                <a:latin typeface="Source Sans 3" panose="020B0303030403020204" pitchFamily="34" charset="0"/>
              </a:rPr>
              <a:t>process</a:t>
            </a:r>
            <a:r>
              <a:rPr lang="de-DE" sz="2000" dirty="0">
                <a:solidFill>
                  <a:srgbClr val="688B9E"/>
                </a:solidFill>
                <a:latin typeface="Source Sans 3" panose="020B0303030403020204" pitchFamily="34" charset="0"/>
              </a:rPr>
              <a:t> in </a:t>
            </a:r>
            <a:br>
              <a:rPr lang="de-DE" sz="2000" dirty="0">
                <a:solidFill>
                  <a:srgbClr val="688B9E"/>
                </a:solidFill>
                <a:latin typeface="Source Sans 3" panose="020B0303030403020204" pitchFamily="34" charset="0"/>
              </a:rPr>
            </a:br>
            <a:r>
              <a:rPr lang="de-DE" sz="2000" dirty="0" err="1">
                <a:solidFill>
                  <a:srgbClr val="688B9E"/>
                </a:solidFill>
                <a:latin typeface="Source Sans 3" panose="020B0303030403020204" pitchFamily="34" charset="0"/>
              </a:rPr>
              <a:t>BioImage</a:t>
            </a:r>
            <a:r>
              <a:rPr lang="de-DE" sz="2000" dirty="0">
                <a:solidFill>
                  <a:srgbClr val="688B9E"/>
                </a:solidFill>
                <a:latin typeface="Source Sans 3" panose="020B0303030403020204" pitchFamily="34" charset="0"/>
              </a:rPr>
              <a:t> Archive</a:t>
            </a:r>
            <a:endParaRPr lang="en-US" sz="2000" dirty="0">
              <a:solidFill>
                <a:srgbClr val="688B9E"/>
              </a:solidFill>
              <a:latin typeface="Source Sans 3" panose="020B030303040302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44D7BC5-1B30-45F6-AFBF-0B63AB3EF856}"/>
              </a:ext>
            </a:extLst>
          </p:cNvPr>
          <p:cNvSpPr/>
          <p:nvPr/>
        </p:nvSpPr>
        <p:spPr>
          <a:xfrm>
            <a:off x="5963479" y="4463142"/>
            <a:ext cx="4724672" cy="719091"/>
          </a:xfrm>
          <a:prstGeom prst="rect">
            <a:avLst/>
          </a:prstGeom>
          <a:solidFill>
            <a:srgbClr val="688B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dirty="0" err="1">
                <a:solidFill>
                  <a:srgbClr val="CCDEA2"/>
                </a:solidFill>
                <a:latin typeface="Source Sans 3" panose="020B0303030403020204" pitchFamily="34" charset="0"/>
              </a:rPr>
              <a:t>Deposit</a:t>
            </a:r>
            <a:r>
              <a:rPr lang="de-DE" sz="2000" dirty="0">
                <a:solidFill>
                  <a:srgbClr val="CCDEA2"/>
                </a:solidFill>
                <a:latin typeface="Source Sans 3" panose="020B0303030403020204" pitchFamily="34" charset="0"/>
              </a:rPr>
              <a:t> </a:t>
            </a:r>
            <a:r>
              <a:rPr lang="de-DE" sz="2000" dirty="0" err="1">
                <a:solidFill>
                  <a:srgbClr val="CCDEA2"/>
                </a:solidFill>
                <a:latin typeface="Source Sans 3" panose="020B0303030403020204" pitchFamily="34" charset="0"/>
              </a:rPr>
              <a:t>your</a:t>
            </a:r>
            <a:r>
              <a:rPr lang="de-DE" sz="2000" dirty="0">
                <a:solidFill>
                  <a:srgbClr val="CCDEA2"/>
                </a:solidFill>
                <a:latin typeface="Source Sans 3" panose="020B0303030403020204" pitchFamily="34" charset="0"/>
              </a:rPr>
              <a:t> own </a:t>
            </a:r>
            <a:r>
              <a:rPr lang="de-DE" sz="2000" dirty="0" err="1">
                <a:solidFill>
                  <a:srgbClr val="CCDEA2"/>
                </a:solidFill>
                <a:latin typeface="Source Sans 3" panose="020B0303030403020204" pitchFamily="34" charset="0"/>
              </a:rPr>
              <a:t>data</a:t>
            </a:r>
            <a:endParaRPr lang="en-US" sz="2000" dirty="0">
              <a:solidFill>
                <a:srgbClr val="CCDEA2"/>
              </a:solidFill>
              <a:latin typeface="Source Sans 3" panose="020B0303030403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A9CA3B3-8953-448B-BFF8-2FB7616B95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4938" y="1973408"/>
            <a:ext cx="554578" cy="446313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FE0D9A8B-5622-4900-9EF3-93D918B07B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4938" y="2764475"/>
            <a:ext cx="448738" cy="608829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C46F11EA-C98E-4CF8-96F6-3B6EF3F220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7858" y="4518272"/>
            <a:ext cx="448738" cy="608829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D7C073E2-CC3B-4139-954D-0A0134866C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7134" y="3836641"/>
            <a:ext cx="447412" cy="360068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80B1CDE4-46E6-4B1A-B989-71A5F1A2D1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6740" y="3769125"/>
            <a:ext cx="299711" cy="406636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5AACF4D4-CD72-4A1D-A7CC-1B5C06B0C9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5677" y="1949433"/>
            <a:ext cx="524589" cy="512049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2F779539-DB04-412B-A945-D42BE27E18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5676" y="2828110"/>
            <a:ext cx="524589" cy="512049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6205C68C-B6A3-4F88-995B-CCB20D0612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4203" y="3716418"/>
            <a:ext cx="524589" cy="512049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8D4EB4B1-22DD-41CE-ACE2-8B08DEA233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7372" y="4566661"/>
            <a:ext cx="524589" cy="51204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EF67DB0-E0FC-45EA-B94B-FE8E9759AD8C}"/>
              </a:ext>
            </a:extLst>
          </p:cNvPr>
          <p:cNvSpPr/>
          <p:nvPr/>
        </p:nvSpPr>
        <p:spPr>
          <a:xfrm>
            <a:off x="1278384" y="1757779"/>
            <a:ext cx="9548771" cy="864648"/>
          </a:xfrm>
          <a:prstGeom prst="rect">
            <a:avLst/>
          </a:prstGeom>
          <a:noFill/>
          <a:ln>
            <a:solidFill>
              <a:srgbClr val="D900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3099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BE261-C5A7-4BD9-9E82-C01693B613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4133" y="2784968"/>
            <a:ext cx="5257799" cy="1014780"/>
          </a:xfrm>
        </p:spPr>
        <p:txBody>
          <a:bodyPr>
            <a:normAutofit/>
          </a:bodyPr>
          <a:lstStyle/>
          <a:p>
            <a:r>
              <a:rPr lang="de-DE" sz="5400" dirty="0" err="1"/>
              <a:t>What</a:t>
            </a:r>
            <a:r>
              <a:rPr lang="de-DE" sz="5400" dirty="0"/>
              <a:t> </a:t>
            </a:r>
            <a:r>
              <a:rPr lang="de-DE" sz="5400" dirty="0" err="1"/>
              <a:t>is</a:t>
            </a:r>
            <a:r>
              <a:rPr lang="de-DE" sz="5400" dirty="0"/>
              <a:t> FAIR?</a:t>
            </a: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17097401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feld 4">
            <a:extLst>
              <a:ext uri="{FF2B5EF4-FFF2-40B4-BE49-F238E27FC236}">
                <a16:creationId xmlns:a16="http://schemas.microsoft.com/office/drawing/2014/main" id="{94921CD5-C7E1-45DF-8AB6-A99B2F12F688}"/>
              </a:ext>
            </a:extLst>
          </p:cNvPr>
          <p:cNvSpPr txBox="1"/>
          <p:nvPr/>
        </p:nvSpPr>
        <p:spPr>
          <a:xfrm>
            <a:off x="1231504" y="3605877"/>
            <a:ext cx="3737329" cy="122725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 lvl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</a:pPr>
            <a:r>
              <a:rPr lang="en-US" sz="2000" dirty="0">
                <a:latin typeface="Source Sans 3 Light" panose="020B0303030403020204" pitchFamily="34" charset="0"/>
              </a:rPr>
              <a:t>A set of principles and guidelines with the ultimate goal to </a:t>
            </a:r>
            <a:r>
              <a:rPr lang="en-US" sz="2000" b="1" dirty="0" err="1">
                <a:latin typeface="Source Sans 3 Light" panose="020B0303030403020204" pitchFamily="34" charset="0"/>
              </a:rPr>
              <a:t>optimise</a:t>
            </a:r>
            <a:r>
              <a:rPr lang="en-US" sz="2000" b="1" dirty="0">
                <a:latin typeface="Source Sans 3 Light" panose="020B0303030403020204" pitchFamily="34" charset="0"/>
              </a:rPr>
              <a:t> the reuse </a:t>
            </a:r>
            <a:r>
              <a:rPr lang="en-US" sz="2000" dirty="0">
                <a:latin typeface="Source Sans 3 Light" panose="020B0303030403020204" pitchFamily="34" charset="0"/>
              </a:rPr>
              <a:t>of scientific data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567D9E9-0EED-4A38-A409-A4801DDF87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383" y="1125035"/>
            <a:ext cx="5379021" cy="147184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A64FFB3-CE98-481E-AE71-801EEEBAEA1A}"/>
              </a:ext>
            </a:extLst>
          </p:cNvPr>
          <p:cNvSpPr txBox="1"/>
          <p:nvPr/>
        </p:nvSpPr>
        <p:spPr>
          <a:xfrm>
            <a:off x="222754" y="5640308"/>
            <a:ext cx="441883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accent6"/>
                </a:solidFill>
                <a:latin typeface="Source Sans 3 Light" panose="020B0303030403020204" pitchFamily="34" charset="0"/>
              </a:rPr>
              <a:t>Wilkinson, M., Dumontier, M., </a:t>
            </a:r>
            <a:r>
              <a:rPr lang="en-US" sz="1200" dirty="0" err="1">
                <a:solidFill>
                  <a:schemeClr val="accent6"/>
                </a:solidFill>
                <a:latin typeface="Source Sans 3 Light" panose="020B0303030403020204" pitchFamily="34" charset="0"/>
              </a:rPr>
              <a:t>Aalbersberg</a:t>
            </a:r>
            <a:r>
              <a:rPr lang="en-US" sz="1200" dirty="0">
                <a:solidFill>
                  <a:schemeClr val="accent6"/>
                </a:solidFill>
                <a:latin typeface="Source Sans 3 Light" panose="020B0303030403020204" pitchFamily="34" charset="0"/>
              </a:rPr>
              <a:t>, I. </a:t>
            </a:r>
            <a:r>
              <a:rPr lang="en-US" sz="1200" i="1" dirty="0">
                <a:solidFill>
                  <a:schemeClr val="accent6"/>
                </a:solidFill>
                <a:latin typeface="Source Sans 3 Light" panose="020B0303030403020204" pitchFamily="34" charset="0"/>
              </a:rPr>
              <a:t>et al.</a:t>
            </a:r>
            <a:r>
              <a:rPr lang="en-US" sz="1200" dirty="0">
                <a:solidFill>
                  <a:schemeClr val="accent6"/>
                </a:solidFill>
                <a:latin typeface="Source Sans 3 Light" panose="020B0303030403020204" pitchFamily="34" charset="0"/>
              </a:rPr>
              <a:t> The FAIR Guiding Principles for scientific data management and stewardship. </a:t>
            </a:r>
            <a:r>
              <a:rPr lang="en-US" sz="1200" i="1" dirty="0">
                <a:solidFill>
                  <a:schemeClr val="accent6"/>
                </a:solidFill>
                <a:latin typeface="Source Sans 3 Light" panose="020B0303030403020204" pitchFamily="34" charset="0"/>
              </a:rPr>
              <a:t>Sci Data</a:t>
            </a:r>
            <a:r>
              <a:rPr lang="en-US" sz="1200" dirty="0">
                <a:solidFill>
                  <a:schemeClr val="accent6"/>
                </a:solidFill>
                <a:latin typeface="Source Sans 3 Light" panose="020B0303030403020204" pitchFamily="34" charset="0"/>
              </a:rPr>
              <a:t> </a:t>
            </a:r>
            <a:r>
              <a:rPr lang="en-US" sz="1200" b="1" dirty="0">
                <a:solidFill>
                  <a:schemeClr val="accent6"/>
                </a:solidFill>
                <a:latin typeface="Source Sans 3 Light" panose="020B0303030403020204" pitchFamily="34" charset="0"/>
              </a:rPr>
              <a:t>3</a:t>
            </a:r>
            <a:r>
              <a:rPr lang="en-US" sz="1200" dirty="0">
                <a:solidFill>
                  <a:schemeClr val="accent6"/>
                </a:solidFill>
                <a:latin typeface="Source Sans 3 Light" panose="020B0303030403020204" pitchFamily="34" charset="0"/>
              </a:rPr>
              <a:t>, 160018 (2016). https://doi.org/10.1038/sdata.2016.18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B35E087-B87C-420A-BE7C-B647FC68B5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1501" y="422760"/>
            <a:ext cx="5814331" cy="518189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06549EA-2D05-42E0-8C42-0F75EC7C6887}"/>
              </a:ext>
            </a:extLst>
          </p:cNvPr>
          <p:cNvSpPr txBox="1"/>
          <p:nvPr/>
        </p:nvSpPr>
        <p:spPr>
          <a:xfrm>
            <a:off x="6096000" y="6085141"/>
            <a:ext cx="610299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accent6">
                    <a:lumMod val="75000"/>
                  </a:schemeClr>
                </a:solidFill>
              </a:rPr>
              <a:t>FAIR re-use by </a:t>
            </a:r>
            <a:r>
              <a:rPr lang="en-US" sz="1200" dirty="0">
                <a:solidFill>
                  <a:srgbClr val="22547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Henning </a:t>
            </a:r>
            <a:r>
              <a:rPr lang="en-US" sz="1200" dirty="0">
                <a:solidFill>
                  <a:schemeClr val="accent6">
                    <a:lumMod val="75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Falk</a:t>
            </a:r>
            <a:r>
              <a:rPr lang="en-US" sz="1200" dirty="0">
                <a:solidFill>
                  <a:schemeClr val="accent6">
                    <a:lumMod val="75000"/>
                  </a:schemeClr>
                </a:solidFill>
              </a:rPr>
              <a:t>, ©2022 </a:t>
            </a:r>
            <a:r>
              <a:rPr lang="en-US" sz="1200" dirty="0" err="1">
                <a:solidFill>
                  <a:schemeClr val="accent6">
                    <a:lumMod val="75000"/>
                  </a:schemeClr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NumFOCUS</a:t>
            </a:r>
            <a:r>
              <a:rPr lang="en-US" sz="1200" dirty="0">
                <a:solidFill>
                  <a:schemeClr val="accent6">
                    <a:lumMod val="75000"/>
                  </a:schemeClr>
                </a:solidFill>
              </a:rPr>
              <a:t>, is used under a </a:t>
            </a:r>
            <a:r>
              <a:rPr lang="en-US" sz="1200" dirty="0">
                <a:solidFill>
                  <a:schemeClr val="accent6">
                    <a:lumMod val="75000"/>
                  </a:schemeClr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 4.0</a:t>
            </a:r>
            <a:r>
              <a:rPr lang="en-US" sz="1200" dirty="0">
                <a:solidFill>
                  <a:schemeClr val="accent6">
                    <a:lumMod val="75000"/>
                  </a:schemeClr>
                </a:solidFill>
              </a:rPr>
              <a:t> license. </a:t>
            </a:r>
          </a:p>
        </p:txBody>
      </p:sp>
    </p:spTree>
    <p:extLst>
      <p:ext uri="{BB962C8B-B14F-4D97-AF65-F5344CB8AC3E}">
        <p14:creationId xmlns:p14="http://schemas.microsoft.com/office/powerpoint/2010/main" val="1596259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963;g113c245df2e_2_274">
            <a:extLst>
              <a:ext uri="{FF2B5EF4-FFF2-40B4-BE49-F238E27FC236}">
                <a16:creationId xmlns:a16="http://schemas.microsoft.com/office/drawing/2014/main" id="{AF03C7D9-F491-496B-AA04-D420C51797C8}"/>
              </a:ext>
            </a:extLst>
          </p:cNvPr>
          <p:cNvSpPr txBox="1">
            <a:spLocks/>
          </p:cNvSpPr>
          <p:nvPr/>
        </p:nvSpPr>
        <p:spPr>
          <a:xfrm>
            <a:off x="381000" y="363357"/>
            <a:ext cx="10515600" cy="860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lnSpc>
                <a:spcPct val="90000"/>
              </a:lnSpc>
              <a:buClr>
                <a:srgbClr val="9AC331"/>
              </a:buClr>
              <a:buSzPts val="4400"/>
              <a:buFont typeface="Calibri"/>
              <a:buNone/>
            </a:pPr>
            <a:r>
              <a:rPr lang="fi-FI" sz="3200" dirty="0">
                <a:solidFill>
                  <a:schemeClr val="bg2"/>
                </a:solidFill>
                <a:latin typeface="Source Sans 3" panose="020B0303030403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FAIR data  =  Open data</a:t>
            </a:r>
          </a:p>
        </p:txBody>
      </p:sp>
      <p:cxnSp>
        <p:nvCxnSpPr>
          <p:cNvPr id="5" name="Gerader Verbinder 5">
            <a:extLst>
              <a:ext uri="{FF2B5EF4-FFF2-40B4-BE49-F238E27FC236}">
                <a16:creationId xmlns:a16="http://schemas.microsoft.com/office/drawing/2014/main" id="{B30B8796-48E8-430F-B5E6-3B8C1EFE09A8}"/>
              </a:ext>
            </a:extLst>
          </p:cNvPr>
          <p:cNvCxnSpPr>
            <a:cxnSpLocks/>
          </p:cNvCxnSpPr>
          <p:nvPr/>
        </p:nvCxnSpPr>
        <p:spPr>
          <a:xfrm flipH="1">
            <a:off x="5477309" y="585434"/>
            <a:ext cx="150009" cy="324482"/>
          </a:xfrm>
          <a:prstGeom prst="line">
            <a:avLst/>
          </a:prstGeom>
          <a:ln w="381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feld 6">
            <a:extLst>
              <a:ext uri="{FF2B5EF4-FFF2-40B4-BE49-F238E27FC236}">
                <a16:creationId xmlns:a16="http://schemas.microsoft.com/office/drawing/2014/main" id="{28E42438-433D-4E5D-B276-54548A7F1FFC}"/>
              </a:ext>
            </a:extLst>
          </p:cNvPr>
          <p:cNvSpPr txBox="1"/>
          <p:nvPr/>
        </p:nvSpPr>
        <p:spPr>
          <a:xfrm>
            <a:off x="8798666" y="1546361"/>
            <a:ext cx="2746068" cy="14773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endParaRPr lang="en-US" sz="1800" dirty="0">
              <a:latin typeface="Source Sans Pro Light" panose="020B0403030403020204" pitchFamily="34" charset="0"/>
            </a:endParaRPr>
          </a:p>
          <a:p>
            <a:r>
              <a:rPr lang="en-US" sz="1800" dirty="0">
                <a:latin typeface="Source Sans Pro Light" panose="020B0403030403020204" pitchFamily="34" charset="0"/>
              </a:rPr>
              <a:t>Completely open data can be used, shared and built-on by </a:t>
            </a:r>
            <a:r>
              <a:rPr lang="en-US" sz="1800" b="1" dirty="0">
                <a:latin typeface="Source Sans Pro Light" panose="020B0403030403020204" pitchFamily="34" charset="0"/>
              </a:rPr>
              <a:t>anyone for any purpose</a:t>
            </a:r>
          </a:p>
        </p:txBody>
      </p:sp>
      <p:sp>
        <p:nvSpPr>
          <p:cNvPr id="7" name="Ellipse 7">
            <a:extLst>
              <a:ext uri="{FF2B5EF4-FFF2-40B4-BE49-F238E27FC236}">
                <a16:creationId xmlns:a16="http://schemas.microsoft.com/office/drawing/2014/main" id="{659C3025-98BA-40B6-8461-F8FE2E25D711}"/>
              </a:ext>
            </a:extLst>
          </p:cNvPr>
          <p:cNvSpPr/>
          <p:nvPr/>
        </p:nvSpPr>
        <p:spPr>
          <a:xfrm>
            <a:off x="3458376" y="1313111"/>
            <a:ext cx="4249266" cy="4748408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8" name="Ellipse 8">
            <a:extLst>
              <a:ext uri="{FF2B5EF4-FFF2-40B4-BE49-F238E27FC236}">
                <a16:creationId xmlns:a16="http://schemas.microsoft.com/office/drawing/2014/main" id="{0BCCEB77-A209-4DA2-920D-09B77950FAB9}"/>
              </a:ext>
            </a:extLst>
          </p:cNvPr>
          <p:cNvSpPr/>
          <p:nvPr/>
        </p:nvSpPr>
        <p:spPr>
          <a:xfrm>
            <a:off x="3737606" y="2437211"/>
            <a:ext cx="3479407" cy="3426982"/>
          </a:xfrm>
          <a:prstGeom prst="ellipse">
            <a:avLst/>
          </a:prstGeom>
          <a:solidFill>
            <a:srgbClr val="C8E1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Ellipse 9">
            <a:extLst>
              <a:ext uri="{FF2B5EF4-FFF2-40B4-BE49-F238E27FC236}">
                <a16:creationId xmlns:a16="http://schemas.microsoft.com/office/drawing/2014/main" id="{2B9580AD-4701-48B4-93F2-3DF4604C7BA6}"/>
              </a:ext>
            </a:extLst>
          </p:cNvPr>
          <p:cNvSpPr/>
          <p:nvPr/>
        </p:nvSpPr>
        <p:spPr>
          <a:xfrm>
            <a:off x="5405378" y="2478578"/>
            <a:ext cx="3479407" cy="3474655"/>
          </a:xfrm>
          <a:prstGeom prst="ellipse">
            <a:avLst/>
          </a:prstGeom>
          <a:solidFill>
            <a:srgbClr val="90DCB2">
              <a:alpha val="67843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extfeld 10">
            <a:extLst>
              <a:ext uri="{FF2B5EF4-FFF2-40B4-BE49-F238E27FC236}">
                <a16:creationId xmlns:a16="http://schemas.microsoft.com/office/drawing/2014/main" id="{2C26BCA5-D3B8-46E3-8E57-F0AA3230AD3E}"/>
              </a:ext>
            </a:extLst>
          </p:cNvPr>
          <p:cNvSpPr txBox="1"/>
          <p:nvPr/>
        </p:nvSpPr>
        <p:spPr>
          <a:xfrm>
            <a:off x="4548652" y="1702913"/>
            <a:ext cx="2180295" cy="4001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Source Sans Pro" panose="020B0503030403020204" pitchFamily="34" charset="0"/>
              </a:rPr>
              <a:t>Managed Data</a:t>
            </a:r>
          </a:p>
        </p:txBody>
      </p:sp>
      <p:sp>
        <p:nvSpPr>
          <p:cNvPr id="11" name="Textfeld 11">
            <a:extLst>
              <a:ext uri="{FF2B5EF4-FFF2-40B4-BE49-F238E27FC236}">
                <a16:creationId xmlns:a16="http://schemas.microsoft.com/office/drawing/2014/main" id="{B7316EF8-0F31-4B50-A98C-8D2FDFA5E8CB}"/>
              </a:ext>
            </a:extLst>
          </p:cNvPr>
          <p:cNvSpPr txBox="1"/>
          <p:nvPr/>
        </p:nvSpPr>
        <p:spPr>
          <a:xfrm>
            <a:off x="4309595" y="3067742"/>
            <a:ext cx="3298337" cy="70788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Source Sans Pro" panose="020B0503030403020204" pitchFamily="34" charset="0"/>
              </a:rPr>
              <a:t>FAIR </a:t>
            </a:r>
          </a:p>
          <a:p>
            <a:r>
              <a:rPr lang="en-US" sz="2000" b="1" dirty="0">
                <a:solidFill>
                  <a:schemeClr val="bg1"/>
                </a:solidFill>
                <a:latin typeface="Source Sans Pro" panose="020B0503030403020204" pitchFamily="34" charset="0"/>
              </a:rPr>
              <a:t>Data</a:t>
            </a:r>
          </a:p>
        </p:txBody>
      </p:sp>
      <p:sp>
        <p:nvSpPr>
          <p:cNvPr id="12" name="Textfeld 12">
            <a:extLst>
              <a:ext uri="{FF2B5EF4-FFF2-40B4-BE49-F238E27FC236}">
                <a16:creationId xmlns:a16="http://schemas.microsoft.com/office/drawing/2014/main" id="{A3DDEAE5-4F56-43B4-8C2D-8BC3F9963A01}"/>
              </a:ext>
            </a:extLst>
          </p:cNvPr>
          <p:cNvSpPr txBox="1"/>
          <p:nvPr/>
        </p:nvSpPr>
        <p:spPr>
          <a:xfrm>
            <a:off x="7492029" y="4664685"/>
            <a:ext cx="1633935" cy="70788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Source Sans Pro" panose="020B0503030403020204" pitchFamily="34" charset="0"/>
              </a:rPr>
              <a:t>Open </a:t>
            </a:r>
          </a:p>
          <a:p>
            <a:r>
              <a:rPr lang="en-US" sz="2000" b="1" dirty="0">
                <a:solidFill>
                  <a:schemeClr val="bg1"/>
                </a:solidFill>
                <a:latin typeface="Source Sans Pro" panose="020B0503030403020204" pitchFamily="34" charset="0"/>
              </a:rPr>
              <a:t>Data</a:t>
            </a:r>
          </a:p>
        </p:txBody>
      </p:sp>
      <p:sp>
        <p:nvSpPr>
          <p:cNvPr id="13" name="Textfeld 13">
            <a:extLst>
              <a:ext uri="{FF2B5EF4-FFF2-40B4-BE49-F238E27FC236}">
                <a16:creationId xmlns:a16="http://schemas.microsoft.com/office/drawing/2014/main" id="{DFA536F8-7A1C-4E7E-9FE0-8B9A5EB90B14}"/>
              </a:ext>
            </a:extLst>
          </p:cNvPr>
          <p:cNvSpPr txBox="1"/>
          <p:nvPr/>
        </p:nvSpPr>
        <p:spPr>
          <a:xfrm>
            <a:off x="550701" y="3421685"/>
            <a:ext cx="2638916" cy="1877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latin typeface="Source Sans 3 Light" panose="020B0303030403020204" pitchFamily="34" charset="0"/>
                <a:ea typeface="Source Sans Pro Light" panose="020B0403030403020204" pitchFamily="34" charset="0"/>
              </a:rPr>
              <a:t>FAIR data may not always be open</a:t>
            </a:r>
            <a:endParaRPr lang="en-US" sz="1800" dirty="0">
              <a:latin typeface="Source Sans 3 Light" panose="020B0303030403020204" pitchFamily="34" charset="0"/>
              <a:ea typeface="Source Sans Pro Light" panose="020B0403030403020204" pitchFamily="34" charset="0"/>
            </a:endParaRPr>
          </a:p>
          <a:p>
            <a:endParaRPr lang="en-US" sz="1600" dirty="0">
              <a:latin typeface="Source Sans 3 Light" panose="020B0303030403020204" pitchFamily="34" charset="0"/>
              <a:ea typeface="Source Sans Pro Light" panose="020B0403030403020204" pitchFamily="34" charset="0"/>
            </a:endParaRPr>
          </a:p>
          <a:p>
            <a:r>
              <a:rPr lang="en-US" sz="1600" i="1" dirty="0">
                <a:latin typeface="Source Sans 3 Light" panose="020B0303030403020204" pitchFamily="34" charset="0"/>
                <a:ea typeface="Source Sans Pro Light" panose="020B0403030403020204" pitchFamily="34" charset="0"/>
              </a:rPr>
              <a:t>Example: a dataset can be accessible only to a closed group, but still be findable, reusable, and interoperable.</a:t>
            </a:r>
          </a:p>
        </p:txBody>
      </p:sp>
      <p:sp>
        <p:nvSpPr>
          <p:cNvPr id="14" name="Textfeld 14">
            <a:extLst>
              <a:ext uri="{FF2B5EF4-FFF2-40B4-BE49-F238E27FC236}">
                <a16:creationId xmlns:a16="http://schemas.microsoft.com/office/drawing/2014/main" id="{77F7231A-D19A-4308-8564-97F3E91857CA}"/>
              </a:ext>
            </a:extLst>
          </p:cNvPr>
          <p:cNvSpPr txBox="1"/>
          <p:nvPr/>
        </p:nvSpPr>
        <p:spPr>
          <a:xfrm>
            <a:off x="9275705" y="3749978"/>
            <a:ext cx="2814703" cy="1877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Source Sans 3" panose="020B0303030403020204" pitchFamily="34" charset="0"/>
                <a:ea typeface="Source Sans Pro Light" panose="020B0403030403020204" pitchFamily="34" charset="0"/>
              </a:rPr>
              <a:t>Open Data are not necessarily FAIR</a:t>
            </a:r>
          </a:p>
          <a:p>
            <a:endParaRPr lang="en-US" sz="1600" i="1" dirty="0">
              <a:latin typeface="Source Sans 3" panose="020B0303030403020204" pitchFamily="34" charset="0"/>
              <a:ea typeface="Source Sans Pro Light" panose="020B0403030403020204" pitchFamily="34" charset="0"/>
            </a:endParaRPr>
          </a:p>
          <a:p>
            <a:r>
              <a:rPr lang="en-US" sz="1600" i="1" dirty="0">
                <a:latin typeface="Source Sans 3 Light" panose="020B0303030403020204" pitchFamily="34" charset="0"/>
                <a:ea typeface="Source Sans Pro Light" panose="020B0403030403020204" pitchFamily="34" charset="0"/>
              </a:rPr>
              <a:t>Example: Undocumented data dump on a personal homepage is neither findable, reusable nor interoperable.</a:t>
            </a:r>
          </a:p>
        </p:txBody>
      </p:sp>
      <p:cxnSp>
        <p:nvCxnSpPr>
          <p:cNvPr id="15" name="Gerade Verbindung mit Pfeil 15">
            <a:extLst>
              <a:ext uri="{FF2B5EF4-FFF2-40B4-BE49-F238E27FC236}">
                <a16:creationId xmlns:a16="http://schemas.microsoft.com/office/drawing/2014/main" id="{06038F06-9E15-43D1-9F45-74E92DE7E43F}"/>
              </a:ext>
            </a:extLst>
          </p:cNvPr>
          <p:cNvCxnSpPr>
            <a:cxnSpLocks/>
          </p:cNvCxnSpPr>
          <p:nvPr/>
        </p:nvCxnSpPr>
        <p:spPr>
          <a:xfrm flipV="1">
            <a:off x="3170177" y="4150702"/>
            <a:ext cx="1220380" cy="569267"/>
          </a:xfrm>
          <a:prstGeom prst="straightConnector1">
            <a:avLst/>
          </a:prstGeom>
          <a:ln w="57150">
            <a:solidFill>
              <a:schemeClr val="bg2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Gerade Verbindung mit Pfeil 16">
            <a:extLst>
              <a:ext uri="{FF2B5EF4-FFF2-40B4-BE49-F238E27FC236}">
                <a16:creationId xmlns:a16="http://schemas.microsoft.com/office/drawing/2014/main" id="{F2167F1D-CD5A-4EF7-AD9E-39C487695893}"/>
              </a:ext>
            </a:extLst>
          </p:cNvPr>
          <p:cNvCxnSpPr>
            <a:cxnSpLocks/>
          </p:cNvCxnSpPr>
          <p:nvPr/>
        </p:nvCxnSpPr>
        <p:spPr>
          <a:xfrm flipH="1">
            <a:off x="8393052" y="3955906"/>
            <a:ext cx="687194" cy="445648"/>
          </a:xfrm>
          <a:prstGeom prst="straightConnector1">
            <a:avLst/>
          </a:prstGeom>
          <a:ln w="57150">
            <a:solidFill>
              <a:schemeClr val="bg2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feld 17">
            <a:extLst>
              <a:ext uri="{FF2B5EF4-FFF2-40B4-BE49-F238E27FC236}">
                <a16:creationId xmlns:a16="http://schemas.microsoft.com/office/drawing/2014/main" id="{D4BBC59A-313E-4609-9268-995C334E05DF}"/>
              </a:ext>
            </a:extLst>
          </p:cNvPr>
          <p:cNvSpPr txBox="1"/>
          <p:nvPr/>
        </p:nvSpPr>
        <p:spPr>
          <a:xfrm>
            <a:off x="350262" y="1618675"/>
            <a:ext cx="2939260" cy="120032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endParaRPr lang="en-US" sz="1800" dirty="0">
              <a:latin typeface="Source Sans Pro Light" panose="020B0403030403020204" pitchFamily="34" charset="0"/>
            </a:endParaRPr>
          </a:p>
          <a:p>
            <a:r>
              <a:rPr lang="en-US" sz="1800" b="1" dirty="0">
                <a:latin typeface="Source Sans Pro Light" panose="020B0403030403020204" pitchFamily="34" charset="0"/>
              </a:rPr>
              <a:t>Always managed and shared respecting</a:t>
            </a:r>
            <a:r>
              <a:rPr lang="en-US" sz="1800" dirty="0">
                <a:latin typeface="Source Sans Pro Light" panose="020B0403030403020204" pitchFamily="34" charset="0"/>
              </a:rPr>
              <a:t> any ethical, legal or contractual </a:t>
            </a:r>
            <a:r>
              <a:rPr lang="en-US" sz="1800" b="1" dirty="0">
                <a:latin typeface="Source Sans Pro Light" panose="020B0403030403020204" pitchFamily="34" charset="0"/>
              </a:rPr>
              <a:t>restrictions.</a:t>
            </a:r>
            <a:endParaRPr lang="en-US" sz="1800" dirty="0">
              <a:latin typeface="Source Sans Pro Light" panose="020B0403030403020204" pitchFamily="34" charset="0"/>
            </a:endParaRPr>
          </a:p>
        </p:txBody>
      </p:sp>
      <p:cxnSp>
        <p:nvCxnSpPr>
          <p:cNvPr id="18" name="Verbinder: gewinkelt 19">
            <a:extLst>
              <a:ext uri="{FF2B5EF4-FFF2-40B4-BE49-F238E27FC236}">
                <a16:creationId xmlns:a16="http://schemas.microsoft.com/office/drawing/2014/main" id="{A65B18E0-6C17-4078-9274-5D4FCDA34710}"/>
              </a:ext>
            </a:extLst>
          </p:cNvPr>
          <p:cNvCxnSpPr>
            <a:cxnSpLocks/>
          </p:cNvCxnSpPr>
          <p:nvPr/>
        </p:nvCxnSpPr>
        <p:spPr>
          <a:xfrm rot="10800000" flipV="1">
            <a:off x="2059590" y="791461"/>
            <a:ext cx="958038" cy="827214"/>
          </a:xfrm>
          <a:prstGeom prst="bentConnector2">
            <a:avLst/>
          </a:prstGeom>
          <a:ln w="38100">
            <a:solidFill>
              <a:schemeClr val="bg2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Verbinder: gewinkelt 20">
            <a:extLst>
              <a:ext uri="{FF2B5EF4-FFF2-40B4-BE49-F238E27FC236}">
                <a16:creationId xmlns:a16="http://schemas.microsoft.com/office/drawing/2014/main" id="{CB4D52FA-15A8-40D8-A20E-B531206212D3}"/>
              </a:ext>
            </a:extLst>
          </p:cNvPr>
          <p:cNvCxnSpPr>
            <a:cxnSpLocks/>
          </p:cNvCxnSpPr>
          <p:nvPr/>
        </p:nvCxnSpPr>
        <p:spPr>
          <a:xfrm>
            <a:off x="8229141" y="791461"/>
            <a:ext cx="1374388" cy="754900"/>
          </a:xfrm>
          <a:prstGeom prst="bentConnector2">
            <a:avLst/>
          </a:prstGeom>
          <a:ln w="38100">
            <a:solidFill>
              <a:schemeClr val="bg2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56BA6D7E-5566-4A4D-B85A-D75780F76C41}"/>
              </a:ext>
            </a:extLst>
          </p:cNvPr>
          <p:cNvSpPr/>
          <p:nvPr/>
        </p:nvSpPr>
        <p:spPr>
          <a:xfrm>
            <a:off x="405026" y="5629613"/>
            <a:ext cx="3687516" cy="72748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800" b="1" dirty="0">
                <a:solidFill>
                  <a:schemeClr val="tx1"/>
                </a:solidFill>
                <a:latin typeface="Source Sans 3 Light" panose="020B0303030403020204" pitchFamily="34" charset="0"/>
              </a:rPr>
              <a:t>FAIR </a:t>
            </a:r>
            <a:r>
              <a:rPr lang="de-DE" sz="1800" b="1" dirty="0" err="1">
                <a:solidFill>
                  <a:schemeClr val="tx1"/>
                </a:solidFill>
                <a:latin typeface="Source Sans 3 Light" panose="020B0303030403020204" pitchFamily="34" charset="0"/>
              </a:rPr>
              <a:t>tip</a:t>
            </a:r>
            <a:r>
              <a:rPr lang="de-DE" sz="1800" dirty="0">
                <a:solidFill>
                  <a:schemeClr val="tx1"/>
                </a:solidFill>
                <a:latin typeface="Source Sans 3 Light" panose="020B0303030403020204" pitchFamily="34" charset="0"/>
              </a:rPr>
              <a:t>: </a:t>
            </a:r>
            <a:r>
              <a:rPr lang="de-DE" sz="1800" dirty="0" err="1">
                <a:solidFill>
                  <a:schemeClr val="tx1"/>
                </a:solidFill>
                <a:latin typeface="Source Sans 3 Light" panose="020B0303030403020204" pitchFamily="34" charset="0"/>
              </a:rPr>
              <a:t>Make</a:t>
            </a:r>
            <a:r>
              <a:rPr lang="de-DE" sz="1800" dirty="0">
                <a:solidFill>
                  <a:schemeClr val="tx1"/>
                </a:solidFill>
                <a:latin typeface="Source Sans 3 Light" panose="020B0303030403020204" pitchFamily="34" charset="0"/>
              </a:rPr>
              <a:t> </a:t>
            </a:r>
            <a:r>
              <a:rPr lang="de-DE" sz="1800" dirty="0" err="1">
                <a:solidFill>
                  <a:schemeClr val="tx1"/>
                </a:solidFill>
                <a:latin typeface="Source Sans 3 Light" panose="020B0303030403020204" pitchFamily="34" charset="0"/>
              </a:rPr>
              <a:t>data</a:t>
            </a:r>
            <a:r>
              <a:rPr lang="de-DE" sz="1800" dirty="0">
                <a:solidFill>
                  <a:schemeClr val="tx1"/>
                </a:solidFill>
                <a:latin typeface="Source Sans 3 Light" panose="020B0303030403020204" pitchFamily="34" charset="0"/>
              </a:rPr>
              <a:t> „</a:t>
            </a:r>
            <a:r>
              <a:rPr lang="de-DE" sz="1800" dirty="0" err="1">
                <a:solidFill>
                  <a:schemeClr val="tx1"/>
                </a:solidFill>
                <a:latin typeface="Source Sans 3 Light" panose="020B0303030403020204" pitchFamily="34" charset="0"/>
              </a:rPr>
              <a:t>as</a:t>
            </a:r>
            <a:r>
              <a:rPr lang="de-DE" sz="1800" dirty="0">
                <a:solidFill>
                  <a:schemeClr val="tx1"/>
                </a:solidFill>
                <a:latin typeface="Source Sans 3 Light" panose="020B0303030403020204" pitchFamily="34" charset="0"/>
              </a:rPr>
              <a:t> open </a:t>
            </a:r>
            <a:r>
              <a:rPr lang="de-DE" sz="1800" dirty="0" err="1">
                <a:solidFill>
                  <a:schemeClr val="tx1"/>
                </a:solidFill>
                <a:latin typeface="Source Sans 3 Light" panose="020B0303030403020204" pitchFamily="34" charset="0"/>
              </a:rPr>
              <a:t>as</a:t>
            </a:r>
            <a:r>
              <a:rPr lang="de-DE" sz="1800" dirty="0">
                <a:solidFill>
                  <a:schemeClr val="tx1"/>
                </a:solidFill>
                <a:latin typeface="Source Sans 3 Light" panose="020B0303030403020204" pitchFamily="34" charset="0"/>
              </a:rPr>
              <a:t> possible, </a:t>
            </a:r>
            <a:r>
              <a:rPr lang="de-DE" sz="1800" dirty="0" err="1">
                <a:solidFill>
                  <a:schemeClr val="tx1"/>
                </a:solidFill>
                <a:latin typeface="Source Sans 3 Light" panose="020B0303030403020204" pitchFamily="34" charset="0"/>
              </a:rPr>
              <a:t>as</a:t>
            </a:r>
            <a:r>
              <a:rPr lang="de-DE" sz="1800" dirty="0">
                <a:solidFill>
                  <a:schemeClr val="tx1"/>
                </a:solidFill>
                <a:latin typeface="Source Sans 3 Light" panose="020B0303030403020204" pitchFamily="34" charset="0"/>
              </a:rPr>
              <a:t> </a:t>
            </a:r>
            <a:r>
              <a:rPr lang="de-DE" sz="1800" dirty="0" err="1">
                <a:solidFill>
                  <a:schemeClr val="tx1"/>
                </a:solidFill>
                <a:latin typeface="Source Sans 3 Light" panose="020B0303030403020204" pitchFamily="34" charset="0"/>
              </a:rPr>
              <a:t>closed</a:t>
            </a:r>
            <a:r>
              <a:rPr lang="de-DE" sz="1800" dirty="0">
                <a:solidFill>
                  <a:schemeClr val="tx1"/>
                </a:solidFill>
                <a:latin typeface="Source Sans 3 Light" panose="020B0303030403020204" pitchFamily="34" charset="0"/>
              </a:rPr>
              <a:t> </a:t>
            </a:r>
            <a:r>
              <a:rPr lang="de-DE" sz="1800" dirty="0" err="1">
                <a:solidFill>
                  <a:schemeClr val="tx1"/>
                </a:solidFill>
                <a:latin typeface="Source Sans 3 Light" panose="020B0303030403020204" pitchFamily="34" charset="0"/>
              </a:rPr>
              <a:t>as</a:t>
            </a:r>
            <a:r>
              <a:rPr lang="de-DE" sz="1800" dirty="0">
                <a:solidFill>
                  <a:schemeClr val="tx1"/>
                </a:solidFill>
                <a:latin typeface="Source Sans 3 Light" panose="020B0303030403020204" pitchFamily="34" charset="0"/>
              </a:rPr>
              <a:t> </a:t>
            </a:r>
            <a:r>
              <a:rPr lang="de-DE" sz="1800" dirty="0" err="1">
                <a:solidFill>
                  <a:schemeClr val="tx1"/>
                </a:solidFill>
                <a:latin typeface="Source Sans 3 Light" panose="020B0303030403020204" pitchFamily="34" charset="0"/>
              </a:rPr>
              <a:t>neccesary</a:t>
            </a:r>
            <a:r>
              <a:rPr lang="de-DE" sz="1800" dirty="0">
                <a:solidFill>
                  <a:schemeClr val="tx1"/>
                </a:solidFill>
                <a:latin typeface="Source Sans 3 Light" panose="020B0303030403020204" pitchFamily="34" charset="0"/>
              </a:rPr>
              <a:t>“</a:t>
            </a:r>
            <a:endParaRPr lang="en-US" sz="1800" dirty="0">
              <a:solidFill>
                <a:schemeClr val="tx1"/>
              </a:solidFill>
              <a:latin typeface="Source Sans 3 Light" panose="020B03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84393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202C9C0-C11C-4001-A573-48DE4E4452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0932" y="352028"/>
            <a:ext cx="5341558" cy="1461592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9A0EAFF-F243-495F-9E40-98DBD5E32541}"/>
              </a:ext>
            </a:extLst>
          </p:cNvPr>
          <p:cNvCxnSpPr>
            <a:cxnSpLocks/>
            <a:endCxn id="9" idx="0"/>
          </p:cNvCxnSpPr>
          <p:nvPr/>
        </p:nvCxnSpPr>
        <p:spPr>
          <a:xfrm flipH="1">
            <a:off x="1696212" y="1866886"/>
            <a:ext cx="1988820" cy="730011"/>
          </a:xfrm>
          <a:prstGeom prst="straightConnector1">
            <a:avLst/>
          </a:prstGeom>
          <a:ln w="38100"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95427BD4-8293-45BA-BABE-FE099AC819B5}"/>
              </a:ext>
            </a:extLst>
          </p:cNvPr>
          <p:cNvSpPr/>
          <p:nvPr/>
        </p:nvSpPr>
        <p:spPr>
          <a:xfrm>
            <a:off x="347472" y="2596897"/>
            <a:ext cx="2697480" cy="358444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chemeClr val="bg2"/>
                </a:solidFill>
                <a:effectLst/>
                <a:latin typeface="Source Sans 3" panose="020B0303030403020204" pitchFamily="34" charset="0"/>
              </a:rPr>
              <a:t>Data are registered in a searchable resource</a:t>
            </a:r>
          </a:p>
          <a:p>
            <a:pPr marL="285750" indent="-28575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1800" b="0" i="0" u="none" strike="noStrike" dirty="0">
              <a:solidFill>
                <a:schemeClr val="bg2"/>
              </a:solidFill>
              <a:effectLst/>
              <a:latin typeface="Source Sans 3" panose="020B0303030403020204" pitchFamily="34" charset="0"/>
            </a:endParaRPr>
          </a:p>
          <a:p>
            <a:pPr marL="285750" indent="-28575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chemeClr val="bg2"/>
                </a:solidFill>
                <a:effectLst/>
                <a:latin typeface="Source Sans 3" panose="020B0303030403020204" pitchFamily="34" charset="0"/>
              </a:rPr>
              <a:t>Machine-readable, persistent identifiers</a:t>
            </a:r>
          </a:p>
          <a:p>
            <a:pPr marL="285750" indent="-28575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bg2"/>
              </a:solidFill>
              <a:latin typeface="Source Sans 3" panose="020B0303030403020204" pitchFamily="34" charset="0"/>
            </a:endParaRPr>
          </a:p>
          <a:p>
            <a:pPr marL="285750" indent="-28575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chemeClr val="bg2"/>
                </a:solidFill>
                <a:effectLst/>
                <a:latin typeface="Source Sans 3" panose="020B0303030403020204" pitchFamily="34" charset="0"/>
              </a:rPr>
              <a:t>Described by rich metadata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6F98D67-2B71-4B20-83FB-EFA9F064EBB0}"/>
              </a:ext>
            </a:extLst>
          </p:cNvPr>
          <p:cNvSpPr/>
          <p:nvPr/>
        </p:nvSpPr>
        <p:spPr>
          <a:xfrm>
            <a:off x="3206496" y="2596897"/>
            <a:ext cx="2697480" cy="358444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chemeClr val="bg2"/>
                </a:solidFill>
                <a:effectLst/>
                <a:latin typeface="Source Sans 3" panose="020B0303030403020204" pitchFamily="34" charset="0"/>
              </a:rPr>
              <a:t>Standardized and open communication protocol for data retrieval</a:t>
            </a:r>
          </a:p>
          <a:p>
            <a:pPr marL="285750" indent="-28575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1800" b="0" i="0" u="none" strike="noStrike" dirty="0">
              <a:solidFill>
                <a:schemeClr val="bg2"/>
              </a:solidFill>
              <a:effectLst/>
              <a:latin typeface="Source Sans 3" panose="020B0303030403020204" pitchFamily="34" charset="0"/>
            </a:endParaRPr>
          </a:p>
          <a:p>
            <a:pPr marL="285750" indent="-28575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chemeClr val="bg2"/>
                </a:solidFill>
                <a:effectLst/>
                <a:latin typeface="Source Sans 3" panose="020B0303030403020204" pitchFamily="34" charset="0"/>
              </a:rPr>
              <a:t>Authentication and authorization possible</a:t>
            </a: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bg2"/>
              </a:solidFill>
              <a:latin typeface="Source Sans 3" panose="020B0303030403020204" pitchFamily="34" charset="0"/>
            </a:endParaRPr>
          </a:p>
          <a:p>
            <a:pPr marL="285750" indent="-28575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chemeClr val="bg2"/>
                </a:solidFill>
                <a:effectLst/>
                <a:latin typeface="Source Sans 3" panose="020B0303030403020204" pitchFamily="34" charset="0"/>
              </a:rPr>
              <a:t>Metadata are longer accessible than data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825DD1D-1872-46DF-B2D3-AF1F6734B1EE}"/>
              </a:ext>
            </a:extLst>
          </p:cNvPr>
          <p:cNvSpPr/>
          <p:nvPr/>
        </p:nvSpPr>
        <p:spPr>
          <a:xfrm>
            <a:off x="6065520" y="2596897"/>
            <a:ext cx="2697480" cy="358444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chemeClr val="bg2"/>
                </a:solidFill>
                <a:effectLst/>
                <a:latin typeface="Source Sans 3" panose="020B0303030403020204" pitchFamily="34" charset="0"/>
              </a:rPr>
              <a:t>Open and standard file formats</a:t>
            </a:r>
          </a:p>
          <a:p>
            <a:pPr marL="285750" indent="-28575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1800" b="0" i="0" u="none" strike="noStrike" dirty="0">
              <a:solidFill>
                <a:schemeClr val="bg2"/>
              </a:solidFill>
              <a:effectLst/>
              <a:latin typeface="Source Sans 3" panose="020B0303030403020204" pitchFamily="34" charset="0"/>
            </a:endParaRPr>
          </a:p>
          <a:p>
            <a:pPr marL="285750" indent="-28575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chemeClr val="bg2"/>
                </a:solidFill>
                <a:effectLst/>
                <a:latin typeface="Source Sans 3" panose="020B0303030403020204" pitchFamily="34" charset="0"/>
              </a:rPr>
              <a:t>Metadata use controlled vocabulary</a:t>
            </a:r>
          </a:p>
          <a:p>
            <a:pPr marL="285750" indent="-28575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bg2"/>
              </a:solidFill>
              <a:latin typeface="Source Sans 3" panose="020B0303030403020204" pitchFamily="34" charset="0"/>
            </a:endParaRPr>
          </a:p>
          <a:p>
            <a:pPr marL="285750" indent="-28575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chemeClr val="bg2"/>
                </a:solidFill>
                <a:effectLst/>
                <a:latin typeface="Source Sans 3" panose="020B0303030403020204" pitchFamily="34" charset="0"/>
              </a:rPr>
              <a:t>Include references to other data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0B9DE0B-B856-4689-9EDC-E6C233B8EC3F}"/>
              </a:ext>
            </a:extLst>
          </p:cNvPr>
          <p:cNvSpPr/>
          <p:nvPr/>
        </p:nvSpPr>
        <p:spPr>
          <a:xfrm>
            <a:off x="8924544" y="2596897"/>
            <a:ext cx="2697480" cy="358444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chemeClr val="bg2"/>
                </a:solidFill>
                <a:effectLst/>
                <a:latin typeface="Source Sans 3" panose="020B0303030403020204" pitchFamily="34" charset="0"/>
              </a:rPr>
              <a:t>Clear and accessible license</a:t>
            </a:r>
            <a:endParaRPr lang="en-US" sz="1800" dirty="0">
              <a:solidFill>
                <a:schemeClr val="bg2"/>
              </a:solidFill>
              <a:latin typeface="Source Sans 3" panose="020B0303030403020204" pitchFamily="34" charset="0"/>
            </a:endParaRPr>
          </a:p>
          <a:p>
            <a:pPr rtl="0" fontAlgn="base">
              <a:spcBef>
                <a:spcPts val="0"/>
              </a:spcBef>
              <a:spcAft>
                <a:spcPts val="0"/>
              </a:spcAft>
            </a:pPr>
            <a:endParaRPr lang="en-US" sz="1800" b="0" i="0" u="none" strike="noStrike" dirty="0">
              <a:solidFill>
                <a:schemeClr val="bg2"/>
              </a:solidFill>
              <a:effectLst/>
              <a:latin typeface="Source Sans 3" panose="020B0303030403020204" pitchFamily="34" charset="0"/>
            </a:endParaRPr>
          </a:p>
          <a:p>
            <a:pPr marL="285750" indent="-28575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chemeClr val="bg2"/>
                </a:solidFill>
                <a:effectLst/>
                <a:latin typeface="Source Sans 3" panose="020B0303030403020204" pitchFamily="34" charset="0"/>
              </a:rPr>
              <a:t>Metadata according to community standards</a:t>
            </a:r>
          </a:p>
          <a:p>
            <a:pPr marL="285750" indent="-28575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bg2"/>
              </a:solidFill>
              <a:latin typeface="Source Sans 3" panose="020B0303030403020204" pitchFamily="34" charset="0"/>
            </a:endParaRP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2"/>
                </a:solidFill>
                <a:latin typeface="Source Sans 3" panose="020B0303030403020204" pitchFamily="34" charset="0"/>
              </a:rPr>
              <a:t>Well-described provenance information (documentation of reproducibility)</a:t>
            </a:r>
            <a:endParaRPr lang="en-US" dirty="0">
              <a:solidFill>
                <a:schemeClr val="bg2"/>
              </a:solidFill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65584D2-830A-4511-A0EE-2C82DDA8773C}"/>
              </a:ext>
            </a:extLst>
          </p:cNvPr>
          <p:cNvCxnSpPr>
            <a:cxnSpLocks/>
            <a:endCxn id="10" idx="0"/>
          </p:cNvCxnSpPr>
          <p:nvPr/>
        </p:nvCxnSpPr>
        <p:spPr>
          <a:xfrm flipH="1">
            <a:off x="4555236" y="1866886"/>
            <a:ext cx="556260" cy="730011"/>
          </a:xfrm>
          <a:prstGeom prst="straightConnector1">
            <a:avLst/>
          </a:prstGeom>
          <a:ln w="38100"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FD1BCA5-ACB3-4B7A-929C-D859F860C3F0}"/>
              </a:ext>
            </a:extLst>
          </p:cNvPr>
          <p:cNvCxnSpPr>
            <a:cxnSpLocks/>
            <a:endCxn id="11" idx="0"/>
          </p:cNvCxnSpPr>
          <p:nvPr/>
        </p:nvCxnSpPr>
        <p:spPr>
          <a:xfrm>
            <a:off x="6739890" y="1866886"/>
            <a:ext cx="674370" cy="730011"/>
          </a:xfrm>
          <a:prstGeom prst="straightConnector1">
            <a:avLst/>
          </a:prstGeom>
          <a:ln w="38100"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776B522-049B-406A-846F-BF26A2AE4850}"/>
              </a:ext>
            </a:extLst>
          </p:cNvPr>
          <p:cNvCxnSpPr>
            <a:cxnSpLocks/>
            <a:endCxn id="12" idx="0"/>
          </p:cNvCxnSpPr>
          <p:nvPr/>
        </p:nvCxnSpPr>
        <p:spPr>
          <a:xfrm>
            <a:off x="8357616" y="1866886"/>
            <a:ext cx="1915668" cy="730011"/>
          </a:xfrm>
          <a:prstGeom prst="straightConnector1">
            <a:avLst/>
          </a:prstGeom>
          <a:ln w="38100"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E5016E88-6CA2-47A8-A757-C6C694ECEADF}"/>
              </a:ext>
            </a:extLst>
          </p:cNvPr>
          <p:cNvSpPr/>
          <p:nvPr/>
        </p:nvSpPr>
        <p:spPr>
          <a:xfrm>
            <a:off x="648070" y="4882718"/>
            <a:ext cx="1811045" cy="60368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13B6B0C-940B-471F-9D71-52A4CCA377A9}"/>
              </a:ext>
            </a:extLst>
          </p:cNvPr>
          <p:cNvSpPr/>
          <p:nvPr/>
        </p:nvSpPr>
        <p:spPr>
          <a:xfrm>
            <a:off x="6374167" y="3959263"/>
            <a:ext cx="2254928" cy="60368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CC98DB0-C8ED-4E30-9481-D871E3D8336E}"/>
              </a:ext>
            </a:extLst>
          </p:cNvPr>
          <p:cNvSpPr/>
          <p:nvPr/>
        </p:nvSpPr>
        <p:spPr>
          <a:xfrm>
            <a:off x="9243134" y="3657422"/>
            <a:ext cx="2254928" cy="60368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E69D538-A307-455B-924E-1348C2594E18}"/>
              </a:ext>
            </a:extLst>
          </p:cNvPr>
          <p:cNvSpPr/>
          <p:nvPr/>
        </p:nvSpPr>
        <p:spPr>
          <a:xfrm>
            <a:off x="3500761" y="5153960"/>
            <a:ext cx="2109926" cy="62540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A79D765-E6C1-424C-AEBC-67B1585D4540}"/>
              </a:ext>
            </a:extLst>
          </p:cNvPr>
          <p:cNvSpPr/>
          <p:nvPr/>
        </p:nvSpPr>
        <p:spPr>
          <a:xfrm>
            <a:off x="6374167" y="4768463"/>
            <a:ext cx="2254928" cy="60368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3CCD59D-72AE-480A-A27E-756079844626}"/>
              </a:ext>
            </a:extLst>
          </p:cNvPr>
          <p:cNvSpPr/>
          <p:nvPr/>
        </p:nvSpPr>
        <p:spPr>
          <a:xfrm>
            <a:off x="9590265" y="1398580"/>
            <a:ext cx="1811045" cy="60368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 dirty="0" err="1">
                <a:solidFill>
                  <a:schemeClr val="bg2"/>
                </a:solidFill>
                <a:latin typeface="Source Sans 3" panose="020B0303030403020204" pitchFamily="34" charset="0"/>
              </a:rPr>
              <a:t>Metadata</a:t>
            </a:r>
            <a:endParaRPr lang="en-US" sz="2400" dirty="0">
              <a:solidFill>
                <a:schemeClr val="bg2"/>
              </a:solidFill>
              <a:latin typeface="Source Sans 3" panose="020B030303040302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41A4C2C-3742-4ABE-A47B-91B9CBD27150}"/>
              </a:ext>
            </a:extLst>
          </p:cNvPr>
          <p:cNvSpPr/>
          <p:nvPr/>
        </p:nvSpPr>
        <p:spPr>
          <a:xfrm>
            <a:off x="517675" y="853344"/>
            <a:ext cx="1811045" cy="60368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 dirty="0">
                <a:solidFill>
                  <a:schemeClr val="bg2"/>
                </a:solidFill>
                <a:latin typeface="Source Sans 3" panose="020B0303030403020204" pitchFamily="34" charset="0"/>
              </a:rPr>
              <a:t>Repository</a:t>
            </a:r>
            <a:endParaRPr lang="en-US" sz="2400" dirty="0">
              <a:solidFill>
                <a:schemeClr val="bg2"/>
              </a:solidFill>
              <a:latin typeface="Source Sans 3" panose="020B0303030403020204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C8D7321-4DB4-4015-B49F-F7D1606F241C}"/>
              </a:ext>
            </a:extLst>
          </p:cNvPr>
          <p:cNvSpPr/>
          <p:nvPr/>
        </p:nvSpPr>
        <p:spPr>
          <a:xfrm>
            <a:off x="648068" y="3162921"/>
            <a:ext cx="2396884" cy="730011"/>
          </a:xfrm>
          <a:prstGeom prst="rect">
            <a:avLst/>
          </a:prstGeom>
          <a:noFill/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bg2"/>
              </a:solidFill>
              <a:latin typeface="Source Sans 3" panose="020B030303040302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4BBAA45-7517-4DF9-A8E1-45EF17F62D99}"/>
              </a:ext>
            </a:extLst>
          </p:cNvPr>
          <p:cNvSpPr/>
          <p:nvPr/>
        </p:nvSpPr>
        <p:spPr>
          <a:xfrm>
            <a:off x="648068" y="4065044"/>
            <a:ext cx="2219419" cy="600124"/>
          </a:xfrm>
          <a:prstGeom prst="rect">
            <a:avLst/>
          </a:prstGeom>
          <a:noFill/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bg2"/>
              </a:solidFill>
              <a:latin typeface="Source Sans 3" panose="020B030303040302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39F784F-07B5-43B7-83EA-56CB0BFD8B6B}"/>
              </a:ext>
            </a:extLst>
          </p:cNvPr>
          <p:cNvSpPr/>
          <p:nvPr/>
        </p:nvSpPr>
        <p:spPr>
          <a:xfrm>
            <a:off x="3500761" y="2975242"/>
            <a:ext cx="2219419" cy="1161752"/>
          </a:xfrm>
          <a:prstGeom prst="rect">
            <a:avLst/>
          </a:prstGeom>
          <a:noFill/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bg2"/>
              </a:solidFill>
              <a:latin typeface="Source Sans 3" panose="020B0303030403020204" pitchFamily="34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89D9FF5-B5B5-4E66-A1BB-885540FB5A64}"/>
              </a:ext>
            </a:extLst>
          </p:cNvPr>
          <p:cNvSpPr/>
          <p:nvPr/>
        </p:nvSpPr>
        <p:spPr>
          <a:xfrm>
            <a:off x="3500761" y="4261104"/>
            <a:ext cx="2305235" cy="737024"/>
          </a:xfrm>
          <a:prstGeom prst="rect">
            <a:avLst/>
          </a:prstGeom>
          <a:noFill/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bg2"/>
              </a:solidFill>
              <a:latin typeface="Source Sans 3" panose="020B0303030403020204" pitchFamily="34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B3DE514-80F2-44AE-8E80-EB17900A6D0E}"/>
              </a:ext>
            </a:extLst>
          </p:cNvPr>
          <p:cNvSpPr/>
          <p:nvPr/>
        </p:nvSpPr>
        <p:spPr>
          <a:xfrm>
            <a:off x="9235173" y="2799780"/>
            <a:ext cx="2166137" cy="603682"/>
          </a:xfrm>
          <a:prstGeom prst="rect">
            <a:avLst/>
          </a:prstGeom>
          <a:noFill/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bg2"/>
              </a:solidFill>
              <a:latin typeface="Source Sans 3" panose="020B0303030403020204" pitchFamily="34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F282ACB-973A-41E7-BF10-D60A9BD2F5F5}"/>
              </a:ext>
            </a:extLst>
          </p:cNvPr>
          <p:cNvSpPr/>
          <p:nvPr/>
        </p:nvSpPr>
        <p:spPr>
          <a:xfrm>
            <a:off x="9315450" y="405294"/>
            <a:ext cx="2244973" cy="825344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 dirty="0">
                <a:solidFill>
                  <a:schemeClr val="bg2"/>
                </a:solidFill>
                <a:latin typeface="Source Sans 3" panose="020B0303030403020204" pitchFamily="34" charset="0"/>
              </a:rPr>
              <a:t>Data Management</a:t>
            </a:r>
            <a:endParaRPr lang="en-US" sz="2400" dirty="0">
              <a:solidFill>
                <a:schemeClr val="bg2"/>
              </a:solidFill>
              <a:latin typeface="Source Sans 3" panose="020B0303030403020204" pitchFamily="34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4A3EF5A-6111-45D1-89DA-3FA66CAEE53A}"/>
              </a:ext>
            </a:extLst>
          </p:cNvPr>
          <p:cNvSpPr/>
          <p:nvPr/>
        </p:nvSpPr>
        <p:spPr>
          <a:xfrm>
            <a:off x="6384122" y="3111010"/>
            <a:ext cx="2319708" cy="642735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bg2"/>
              </a:solidFill>
              <a:latin typeface="Source Sans 3" panose="020B0303030403020204" pitchFamily="34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22FDE19-1642-4FC4-A6AB-DBED972F2B22}"/>
              </a:ext>
            </a:extLst>
          </p:cNvPr>
          <p:cNvSpPr/>
          <p:nvPr/>
        </p:nvSpPr>
        <p:spPr>
          <a:xfrm>
            <a:off x="9178354" y="4427569"/>
            <a:ext cx="2319708" cy="1529348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bg2"/>
              </a:solidFill>
              <a:latin typeface="Source Sans 3" panose="020B03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27377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202C9C0-C11C-4001-A573-48DE4E4452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0932" y="352028"/>
            <a:ext cx="5341558" cy="1461592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9A0EAFF-F243-495F-9E40-98DBD5E32541}"/>
              </a:ext>
            </a:extLst>
          </p:cNvPr>
          <p:cNvCxnSpPr>
            <a:cxnSpLocks/>
            <a:endCxn id="9" idx="0"/>
          </p:cNvCxnSpPr>
          <p:nvPr/>
        </p:nvCxnSpPr>
        <p:spPr>
          <a:xfrm flipH="1">
            <a:off x="1696212" y="1866886"/>
            <a:ext cx="1988820" cy="730011"/>
          </a:xfrm>
          <a:prstGeom prst="straightConnector1">
            <a:avLst/>
          </a:prstGeom>
          <a:ln w="38100"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95427BD4-8293-45BA-BABE-FE099AC819B5}"/>
              </a:ext>
            </a:extLst>
          </p:cNvPr>
          <p:cNvSpPr/>
          <p:nvPr/>
        </p:nvSpPr>
        <p:spPr>
          <a:xfrm>
            <a:off x="347472" y="2596897"/>
            <a:ext cx="2697480" cy="358444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chemeClr val="bg2"/>
                </a:solidFill>
                <a:effectLst/>
                <a:latin typeface="Source Sans 3" panose="020B0303030403020204" pitchFamily="34" charset="0"/>
              </a:rPr>
              <a:t>Data are registered in a searchable resource</a:t>
            </a:r>
          </a:p>
          <a:p>
            <a:pPr marL="285750" indent="-28575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1800" b="0" i="0" u="none" strike="noStrike" dirty="0">
              <a:solidFill>
                <a:schemeClr val="bg2"/>
              </a:solidFill>
              <a:effectLst/>
              <a:latin typeface="Source Sans 3" panose="020B0303030403020204" pitchFamily="34" charset="0"/>
            </a:endParaRPr>
          </a:p>
          <a:p>
            <a:pPr marL="285750" indent="-28575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chemeClr val="bg2"/>
                </a:solidFill>
                <a:effectLst/>
                <a:latin typeface="Source Sans 3" panose="020B0303030403020204" pitchFamily="34" charset="0"/>
              </a:rPr>
              <a:t>Machine-readable, persistent identifiers</a:t>
            </a:r>
          </a:p>
          <a:p>
            <a:pPr marL="285750" indent="-28575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bg2"/>
              </a:solidFill>
              <a:latin typeface="Source Sans 3" panose="020B0303030403020204" pitchFamily="34" charset="0"/>
            </a:endParaRPr>
          </a:p>
          <a:p>
            <a:pPr marL="285750" indent="-28575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chemeClr val="bg2"/>
                </a:solidFill>
                <a:effectLst/>
                <a:latin typeface="Source Sans 3" panose="020B0303030403020204" pitchFamily="34" charset="0"/>
              </a:rPr>
              <a:t>Described by rich metadata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6F98D67-2B71-4B20-83FB-EFA9F064EBB0}"/>
              </a:ext>
            </a:extLst>
          </p:cNvPr>
          <p:cNvSpPr/>
          <p:nvPr/>
        </p:nvSpPr>
        <p:spPr>
          <a:xfrm>
            <a:off x="3206496" y="2596897"/>
            <a:ext cx="2697480" cy="358444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chemeClr val="bg2"/>
                </a:solidFill>
                <a:effectLst/>
                <a:latin typeface="Source Sans 3" panose="020B0303030403020204" pitchFamily="34" charset="0"/>
              </a:rPr>
              <a:t>Standardized and open communication protocol for data retrieval</a:t>
            </a:r>
          </a:p>
          <a:p>
            <a:pPr marL="285750" indent="-28575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1800" b="0" i="0" u="none" strike="noStrike" dirty="0">
              <a:solidFill>
                <a:schemeClr val="bg2"/>
              </a:solidFill>
              <a:effectLst/>
              <a:latin typeface="Source Sans 3" panose="020B0303030403020204" pitchFamily="34" charset="0"/>
            </a:endParaRPr>
          </a:p>
          <a:p>
            <a:pPr marL="285750" indent="-28575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chemeClr val="bg2"/>
                </a:solidFill>
                <a:effectLst/>
                <a:latin typeface="Source Sans 3" panose="020B0303030403020204" pitchFamily="34" charset="0"/>
              </a:rPr>
              <a:t>Authentication and authorization possible</a:t>
            </a: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bg2"/>
              </a:solidFill>
              <a:latin typeface="Source Sans 3" panose="020B0303030403020204" pitchFamily="34" charset="0"/>
            </a:endParaRPr>
          </a:p>
          <a:p>
            <a:pPr marL="285750" indent="-28575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chemeClr val="bg2"/>
                </a:solidFill>
                <a:effectLst/>
                <a:latin typeface="Source Sans 3" panose="020B0303030403020204" pitchFamily="34" charset="0"/>
              </a:rPr>
              <a:t>Metadata are longer accessible than data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825DD1D-1872-46DF-B2D3-AF1F6734B1EE}"/>
              </a:ext>
            </a:extLst>
          </p:cNvPr>
          <p:cNvSpPr/>
          <p:nvPr/>
        </p:nvSpPr>
        <p:spPr>
          <a:xfrm>
            <a:off x="6065520" y="2596897"/>
            <a:ext cx="2697480" cy="358444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chemeClr val="bg2"/>
                </a:solidFill>
                <a:effectLst/>
                <a:latin typeface="Source Sans 3" panose="020B0303030403020204" pitchFamily="34" charset="0"/>
              </a:rPr>
              <a:t>Open and standard file formats</a:t>
            </a:r>
          </a:p>
          <a:p>
            <a:pPr marL="285750" indent="-28575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1800" b="0" i="0" u="none" strike="noStrike" dirty="0">
              <a:solidFill>
                <a:schemeClr val="bg2"/>
              </a:solidFill>
              <a:effectLst/>
              <a:latin typeface="Source Sans 3" panose="020B0303030403020204" pitchFamily="34" charset="0"/>
            </a:endParaRPr>
          </a:p>
          <a:p>
            <a:pPr marL="285750" indent="-28575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chemeClr val="bg2"/>
                </a:solidFill>
                <a:effectLst/>
                <a:latin typeface="Source Sans 3" panose="020B0303030403020204" pitchFamily="34" charset="0"/>
              </a:rPr>
              <a:t>Metadata use controlled vocabulary</a:t>
            </a:r>
          </a:p>
          <a:p>
            <a:pPr marL="285750" indent="-28575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bg2"/>
              </a:solidFill>
              <a:latin typeface="Source Sans 3" panose="020B0303030403020204" pitchFamily="34" charset="0"/>
            </a:endParaRPr>
          </a:p>
          <a:p>
            <a:pPr marL="285750" indent="-28575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chemeClr val="bg2"/>
                </a:solidFill>
                <a:effectLst/>
                <a:latin typeface="Source Sans 3" panose="020B0303030403020204" pitchFamily="34" charset="0"/>
              </a:rPr>
              <a:t>Include references to other data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0B9DE0B-B856-4689-9EDC-E6C233B8EC3F}"/>
              </a:ext>
            </a:extLst>
          </p:cNvPr>
          <p:cNvSpPr/>
          <p:nvPr/>
        </p:nvSpPr>
        <p:spPr>
          <a:xfrm>
            <a:off x="8924544" y="2596897"/>
            <a:ext cx="2697480" cy="358444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chemeClr val="bg2"/>
                </a:solidFill>
                <a:effectLst/>
                <a:latin typeface="Source Sans 3" panose="020B0303030403020204" pitchFamily="34" charset="0"/>
              </a:rPr>
              <a:t>Clear and accessible license</a:t>
            </a:r>
            <a:endParaRPr lang="en-US" sz="1800" dirty="0">
              <a:solidFill>
                <a:schemeClr val="bg2"/>
              </a:solidFill>
              <a:latin typeface="Source Sans 3" panose="020B0303030403020204" pitchFamily="34" charset="0"/>
            </a:endParaRPr>
          </a:p>
          <a:p>
            <a:pPr rtl="0" fontAlgn="base">
              <a:spcBef>
                <a:spcPts val="0"/>
              </a:spcBef>
              <a:spcAft>
                <a:spcPts val="0"/>
              </a:spcAft>
            </a:pPr>
            <a:endParaRPr lang="en-US" sz="1800" b="0" i="0" u="none" strike="noStrike" dirty="0">
              <a:solidFill>
                <a:schemeClr val="bg2"/>
              </a:solidFill>
              <a:effectLst/>
              <a:latin typeface="Source Sans 3" panose="020B0303030403020204" pitchFamily="34" charset="0"/>
            </a:endParaRPr>
          </a:p>
          <a:p>
            <a:pPr marL="285750" indent="-28575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chemeClr val="bg2"/>
                </a:solidFill>
                <a:effectLst/>
                <a:latin typeface="Source Sans 3" panose="020B0303030403020204" pitchFamily="34" charset="0"/>
              </a:rPr>
              <a:t>Metadata according to community standards</a:t>
            </a:r>
          </a:p>
          <a:p>
            <a:pPr marL="285750" indent="-28575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bg2"/>
              </a:solidFill>
              <a:latin typeface="Source Sans 3" panose="020B0303030403020204" pitchFamily="34" charset="0"/>
            </a:endParaRP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2"/>
                </a:solidFill>
                <a:latin typeface="Source Sans 3" panose="020B0303030403020204" pitchFamily="34" charset="0"/>
              </a:rPr>
              <a:t>Well-described provenance information (documentation of reproducibility)</a:t>
            </a:r>
            <a:endParaRPr lang="en-US" dirty="0">
              <a:solidFill>
                <a:schemeClr val="bg2"/>
              </a:solidFill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65584D2-830A-4511-A0EE-2C82DDA8773C}"/>
              </a:ext>
            </a:extLst>
          </p:cNvPr>
          <p:cNvCxnSpPr>
            <a:cxnSpLocks/>
            <a:endCxn id="10" idx="0"/>
          </p:cNvCxnSpPr>
          <p:nvPr/>
        </p:nvCxnSpPr>
        <p:spPr>
          <a:xfrm flipH="1">
            <a:off x="4555236" y="1866886"/>
            <a:ext cx="556260" cy="730011"/>
          </a:xfrm>
          <a:prstGeom prst="straightConnector1">
            <a:avLst/>
          </a:prstGeom>
          <a:ln w="38100"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FD1BCA5-ACB3-4B7A-929C-D859F860C3F0}"/>
              </a:ext>
            </a:extLst>
          </p:cNvPr>
          <p:cNvCxnSpPr>
            <a:cxnSpLocks/>
            <a:endCxn id="11" idx="0"/>
          </p:cNvCxnSpPr>
          <p:nvPr/>
        </p:nvCxnSpPr>
        <p:spPr>
          <a:xfrm>
            <a:off x="6739890" y="1866886"/>
            <a:ext cx="674370" cy="730011"/>
          </a:xfrm>
          <a:prstGeom prst="straightConnector1">
            <a:avLst/>
          </a:prstGeom>
          <a:ln w="38100"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776B522-049B-406A-846F-BF26A2AE4850}"/>
              </a:ext>
            </a:extLst>
          </p:cNvPr>
          <p:cNvCxnSpPr>
            <a:cxnSpLocks/>
            <a:endCxn id="12" idx="0"/>
          </p:cNvCxnSpPr>
          <p:nvPr/>
        </p:nvCxnSpPr>
        <p:spPr>
          <a:xfrm>
            <a:off x="8357616" y="1866886"/>
            <a:ext cx="1915668" cy="730011"/>
          </a:xfrm>
          <a:prstGeom prst="straightConnector1">
            <a:avLst/>
          </a:prstGeom>
          <a:ln w="38100"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E5016E88-6CA2-47A8-A757-C6C694ECEADF}"/>
              </a:ext>
            </a:extLst>
          </p:cNvPr>
          <p:cNvSpPr/>
          <p:nvPr/>
        </p:nvSpPr>
        <p:spPr>
          <a:xfrm>
            <a:off x="648070" y="4882718"/>
            <a:ext cx="1811045" cy="60368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13B6B0C-940B-471F-9D71-52A4CCA377A9}"/>
              </a:ext>
            </a:extLst>
          </p:cNvPr>
          <p:cNvSpPr/>
          <p:nvPr/>
        </p:nvSpPr>
        <p:spPr>
          <a:xfrm>
            <a:off x="6374167" y="3959263"/>
            <a:ext cx="2254928" cy="60368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CC98DB0-C8ED-4E30-9481-D871E3D8336E}"/>
              </a:ext>
            </a:extLst>
          </p:cNvPr>
          <p:cNvSpPr/>
          <p:nvPr/>
        </p:nvSpPr>
        <p:spPr>
          <a:xfrm>
            <a:off x="9243134" y="3657422"/>
            <a:ext cx="2254928" cy="60368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E69D538-A307-455B-924E-1348C2594E18}"/>
              </a:ext>
            </a:extLst>
          </p:cNvPr>
          <p:cNvSpPr/>
          <p:nvPr/>
        </p:nvSpPr>
        <p:spPr>
          <a:xfrm>
            <a:off x="3500761" y="5153960"/>
            <a:ext cx="2109926" cy="62540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A79D765-E6C1-424C-AEBC-67B1585D4540}"/>
              </a:ext>
            </a:extLst>
          </p:cNvPr>
          <p:cNvSpPr/>
          <p:nvPr/>
        </p:nvSpPr>
        <p:spPr>
          <a:xfrm>
            <a:off x="6374167" y="4768463"/>
            <a:ext cx="2254928" cy="60368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3CCD59D-72AE-480A-A27E-756079844626}"/>
              </a:ext>
            </a:extLst>
          </p:cNvPr>
          <p:cNvSpPr/>
          <p:nvPr/>
        </p:nvSpPr>
        <p:spPr>
          <a:xfrm>
            <a:off x="9590265" y="1398580"/>
            <a:ext cx="1811045" cy="60368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 dirty="0" err="1">
                <a:solidFill>
                  <a:schemeClr val="bg2"/>
                </a:solidFill>
                <a:latin typeface="Source Sans 3" panose="020B0303030403020204" pitchFamily="34" charset="0"/>
              </a:rPr>
              <a:t>Metadata</a:t>
            </a:r>
            <a:endParaRPr lang="en-US" sz="2400" dirty="0">
              <a:solidFill>
                <a:schemeClr val="bg2"/>
              </a:solidFill>
              <a:latin typeface="Source Sans 3" panose="020B030303040302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41A4C2C-3742-4ABE-A47B-91B9CBD27150}"/>
              </a:ext>
            </a:extLst>
          </p:cNvPr>
          <p:cNvSpPr/>
          <p:nvPr/>
        </p:nvSpPr>
        <p:spPr>
          <a:xfrm>
            <a:off x="517675" y="853344"/>
            <a:ext cx="1811045" cy="60368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 dirty="0">
                <a:solidFill>
                  <a:schemeClr val="bg2"/>
                </a:solidFill>
                <a:latin typeface="Source Sans 3" panose="020B0303030403020204" pitchFamily="34" charset="0"/>
              </a:rPr>
              <a:t>Repository</a:t>
            </a:r>
            <a:endParaRPr lang="en-US" sz="2400" dirty="0">
              <a:solidFill>
                <a:schemeClr val="bg2"/>
              </a:solidFill>
              <a:latin typeface="Source Sans 3" panose="020B0303030403020204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C8D7321-4DB4-4015-B49F-F7D1606F241C}"/>
              </a:ext>
            </a:extLst>
          </p:cNvPr>
          <p:cNvSpPr/>
          <p:nvPr/>
        </p:nvSpPr>
        <p:spPr>
          <a:xfrm>
            <a:off x="648068" y="3162921"/>
            <a:ext cx="2396884" cy="730011"/>
          </a:xfrm>
          <a:prstGeom prst="rect">
            <a:avLst/>
          </a:prstGeom>
          <a:noFill/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bg2"/>
              </a:solidFill>
              <a:latin typeface="Source Sans 3" panose="020B030303040302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4BBAA45-7517-4DF9-A8E1-45EF17F62D99}"/>
              </a:ext>
            </a:extLst>
          </p:cNvPr>
          <p:cNvSpPr/>
          <p:nvPr/>
        </p:nvSpPr>
        <p:spPr>
          <a:xfrm>
            <a:off x="648068" y="4065044"/>
            <a:ext cx="2219419" cy="600124"/>
          </a:xfrm>
          <a:prstGeom prst="rect">
            <a:avLst/>
          </a:prstGeom>
          <a:noFill/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bg2"/>
              </a:solidFill>
              <a:latin typeface="Source Sans 3" panose="020B030303040302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39F784F-07B5-43B7-83EA-56CB0BFD8B6B}"/>
              </a:ext>
            </a:extLst>
          </p:cNvPr>
          <p:cNvSpPr/>
          <p:nvPr/>
        </p:nvSpPr>
        <p:spPr>
          <a:xfrm>
            <a:off x="3500761" y="2975242"/>
            <a:ext cx="2219419" cy="1161752"/>
          </a:xfrm>
          <a:prstGeom prst="rect">
            <a:avLst/>
          </a:prstGeom>
          <a:noFill/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bg2"/>
              </a:solidFill>
              <a:latin typeface="Source Sans 3" panose="020B0303030403020204" pitchFamily="34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89D9FF5-B5B5-4E66-A1BB-885540FB5A64}"/>
              </a:ext>
            </a:extLst>
          </p:cNvPr>
          <p:cNvSpPr/>
          <p:nvPr/>
        </p:nvSpPr>
        <p:spPr>
          <a:xfrm>
            <a:off x="3500761" y="4261104"/>
            <a:ext cx="2305235" cy="737024"/>
          </a:xfrm>
          <a:prstGeom prst="rect">
            <a:avLst/>
          </a:prstGeom>
          <a:noFill/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bg2"/>
              </a:solidFill>
              <a:latin typeface="Source Sans 3" panose="020B0303030403020204" pitchFamily="34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B3DE514-80F2-44AE-8E80-EB17900A6D0E}"/>
              </a:ext>
            </a:extLst>
          </p:cNvPr>
          <p:cNvSpPr/>
          <p:nvPr/>
        </p:nvSpPr>
        <p:spPr>
          <a:xfrm>
            <a:off x="9235173" y="2799780"/>
            <a:ext cx="2166137" cy="603682"/>
          </a:xfrm>
          <a:prstGeom prst="rect">
            <a:avLst/>
          </a:prstGeom>
          <a:noFill/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bg2"/>
              </a:solidFill>
              <a:latin typeface="Source Sans 3" panose="020B0303030403020204" pitchFamily="34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F282ACB-973A-41E7-BF10-D60A9BD2F5F5}"/>
              </a:ext>
            </a:extLst>
          </p:cNvPr>
          <p:cNvSpPr/>
          <p:nvPr/>
        </p:nvSpPr>
        <p:spPr>
          <a:xfrm>
            <a:off x="9315450" y="352028"/>
            <a:ext cx="2244973" cy="825344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 dirty="0">
                <a:solidFill>
                  <a:schemeClr val="bg2"/>
                </a:solidFill>
                <a:latin typeface="Source Sans 3" panose="020B0303030403020204" pitchFamily="34" charset="0"/>
              </a:rPr>
              <a:t>Data Management</a:t>
            </a:r>
            <a:endParaRPr lang="en-US" sz="2400" dirty="0">
              <a:solidFill>
                <a:schemeClr val="bg2"/>
              </a:solidFill>
              <a:latin typeface="Source Sans 3" panose="020B0303030403020204" pitchFamily="34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4A3EF5A-6111-45D1-89DA-3FA66CAEE53A}"/>
              </a:ext>
            </a:extLst>
          </p:cNvPr>
          <p:cNvSpPr/>
          <p:nvPr/>
        </p:nvSpPr>
        <p:spPr>
          <a:xfrm>
            <a:off x="6384122" y="3111010"/>
            <a:ext cx="2319708" cy="642735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bg2"/>
              </a:solidFill>
              <a:latin typeface="Source Sans 3" panose="020B0303030403020204" pitchFamily="34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22FDE19-1642-4FC4-A6AB-DBED972F2B22}"/>
              </a:ext>
            </a:extLst>
          </p:cNvPr>
          <p:cNvSpPr/>
          <p:nvPr/>
        </p:nvSpPr>
        <p:spPr>
          <a:xfrm>
            <a:off x="9178354" y="4427569"/>
            <a:ext cx="2319708" cy="1529348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bg2"/>
              </a:solidFill>
              <a:latin typeface="Source Sans 3" panose="020B0303030403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D016DAA-192A-4C8C-B939-9363EA164854}"/>
              </a:ext>
            </a:extLst>
          </p:cNvPr>
          <p:cNvSpPr/>
          <p:nvPr/>
        </p:nvSpPr>
        <p:spPr>
          <a:xfrm>
            <a:off x="257452" y="2223480"/>
            <a:ext cx="11754035" cy="4053033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Arrow: Down 2">
            <a:extLst>
              <a:ext uri="{FF2B5EF4-FFF2-40B4-BE49-F238E27FC236}">
                <a16:creationId xmlns:a16="http://schemas.microsoft.com/office/drawing/2014/main" id="{B1AA77A6-41AC-4498-B7D3-55717EAC2B2D}"/>
              </a:ext>
            </a:extLst>
          </p:cNvPr>
          <p:cNvSpPr/>
          <p:nvPr/>
        </p:nvSpPr>
        <p:spPr>
          <a:xfrm>
            <a:off x="1065853" y="2052997"/>
            <a:ext cx="468815" cy="1143533"/>
          </a:xfrm>
          <a:prstGeom prst="downArrow">
            <a:avLst/>
          </a:prstGeom>
          <a:solidFill>
            <a:srgbClr val="688B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99F301B-1866-4ED9-B826-41648F9ACA31}"/>
              </a:ext>
            </a:extLst>
          </p:cNvPr>
          <p:cNvSpPr/>
          <p:nvPr/>
        </p:nvSpPr>
        <p:spPr>
          <a:xfrm>
            <a:off x="464272" y="3615873"/>
            <a:ext cx="2309149" cy="60368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 dirty="0">
                <a:solidFill>
                  <a:schemeClr val="bg2"/>
                </a:solidFill>
                <a:latin typeface="Source Sans 3" panose="020B0303030403020204" pitchFamily="34" charset="0"/>
              </a:rPr>
              <a:t>This </a:t>
            </a:r>
            <a:r>
              <a:rPr lang="de-DE" sz="2400" dirty="0" err="1">
                <a:solidFill>
                  <a:schemeClr val="bg2"/>
                </a:solidFill>
                <a:latin typeface="Source Sans 3" panose="020B0303030403020204" pitchFamily="34" charset="0"/>
              </a:rPr>
              <a:t>workshop</a:t>
            </a:r>
            <a:endParaRPr lang="en-US" sz="2400" dirty="0">
              <a:solidFill>
                <a:schemeClr val="bg2"/>
              </a:solidFill>
              <a:latin typeface="Source Sans 3" panose="020B0303030403020204" pitchFamily="34" charset="0"/>
            </a:endParaRPr>
          </a:p>
        </p:txBody>
      </p:sp>
      <p:sp>
        <p:nvSpPr>
          <p:cNvPr id="35" name="Arrow: Down 34">
            <a:extLst>
              <a:ext uri="{FF2B5EF4-FFF2-40B4-BE49-F238E27FC236}">
                <a16:creationId xmlns:a16="http://schemas.microsoft.com/office/drawing/2014/main" id="{31C426BB-3219-4C4A-8121-5341AD631515}"/>
              </a:ext>
            </a:extLst>
          </p:cNvPr>
          <p:cNvSpPr/>
          <p:nvPr/>
        </p:nvSpPr>
        <p:spPr>
          <a:xfrm>
            <a:off x="10156986" y="2338060"/>
            <a:ext cx="468815" cy="1143533"/>
          </a:xfrm>
          <a:prstGeom prst="downArrow">
            <a:avLst/>
          </a:prstGeom>
          <a:solidFill>
            <a:srgbClr val="688B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74F1AB6-DF76-4ECA-96D5-D7EE31B3667E}"/>
              </a:ext>
            </a:extLst>
          </p:cNvPr>
          <p:cNvSpPr/>
          <p:nvPr/>
        </p:nvSpPr>
        <p:spPr>
          <a:xfrm>
            <a:off x="7972429" y="3870049"/>
            <a:ext cx="3683774" cy="825344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 dirty="0" err="1">
                <a:solidFill>
                  <a:schemeClr val="bg2"/>
                </a:solidFill>
                <a:latin typeface="Source Sans 3" panose="020B0303030403020204" pitchFamily="34" charset="0"/>
              </a:rPr>
              <a:t>Thanks</a:t>
            </a:r>
            <a:r>
              <a:rPr lang="de-DE" sz="2400" dirty="0">
                <a:solidFill>
                  <a:schemeClr val="bg2"/>
                </a:solidFill>
                <a:latin typeface="Source Sans 3" panose="020B0303030403020204" pitchFamily="34" charset="0"/>
              </a:rPr>
              <a:t> </a:t>
            </a:r>
            <a:r>
              <a:rPr lang="de-DE" sz="2400" dirty="0" err="1">
                <a:solidFill>
                  <a:schemeClr val="bg2"/>
                </a:solidFill>
                <a:latin typeface="Source Sans 3" panose="020B0303030403020204" pitchFamily="34" charset="0"/>
              </a:rPr>
              <a:t>to</a:t>
            </a:r>
            <a:r>
              <a:rPr lang="de-DE" sz="2400" dirty="0">
                <a:solidFill>
                  <a:schemeClr val="bg2"/>
                </a:solidFill>
                <a:latin typeface="Source Sans 3" panose="020B0303030403020204" pitchFamily="34" charset="0"/>
              </a:rPr>
              <a:t> </a:t>
            </a:r>
            <a:r>
              <a:rPr lang="de-DE" sz="2400" dirty="0" err="1">
                <a:solidFill>
                  <a:schemeClr val="bg2"/>
                </a:solidFill>
                <a:latin typeface="Source Sans 3" panose="020B0303030403020204" pitchFamily="34" charset="0"/>
              </a:rPr>
              <a:t>TiM</a:t>
            </a:r>
            <a:r>
              <a:rPr lang="de-DE" sz="2400" dirty="0">
                <a:solidFill>
                  <a:schemeClr val="bg2"/>
                </a:solidFill>
                <a:latin typeface="Source Sans 3" panose="020B0303030403020204" pitchFamily="34" charset="0"/>
              </a:rPr>
              <a:t> </a:t>
            </a:r>
            <a:r>
              <a:rPr lang="de-DE" sz="2400" dirty="0" err="1">
                <a:solidFill>
                  <a:schemeClr val="bg2"/>
                </a:solidFill>
                <a:latin typeface="Source Sans 3" panose="020B0303030403020204" pitchFamily="34" charset="0"/>
              </a:rPr>
              <a:t>organizers</a:t>
            </a:r>
            <a:r>
              <a:rPr lang="de-DE" sz="2400" dirty="0">
                <a:solidFill>
                  <a:schemeClr val="bg2"/>
                </a:solidFill>
                <a:latin typeface="Source Sans 3" panose="020B0303030403020204" pitchFamily="34" charset="0"/>
              </a:rPr>
              <a:t> and </a:t>
            </a:r>
            <a:r>
              <a:rPr lang="de-DE" sz="2400" dirty="0" err="1">
                <a:solidFill>
                  <a:schemeClr val="bg2"/>
                </a:solidFill>
                <a:latin typeface="Source Sans 3" panose="020B0303030403020204" pitchFamily="34" charset="0"/>
              </a:rPr>
              <a:t>data</a:t>
            </a:r>
            <a:r>
              <a:rPr lang="de-DE" sz="2400" dirty="0">
                <a:solidFill>
                  <a:schemeClr val="bg2"/>
                </a:solidFill>
                <a:latin typeface="Source Sans 3" panose="020B0303030403020204" pitchFamily="34" charset="0"/>
              </a:rPr>
              <a:t> </a:t>
            </a:r>
            <a:r>
              <a:rPr lang="de-DE" sz="2400" dirty="0" err="1">
                <a:solidFill>
                  <a:schemeClr val="bg2"/>
                </a:solidFill>
                <a:latin typeface="Source Sans 3" panose="020B0303030403020204" pitchFamily="34" charset="0"/>
              </a:rPr>
              <a:t>stewards</a:t>
            </a:r>
            <a:r>
              <a:rPr lang="de-DE" sz="2400" dirty="0">
                <a:solidFill>
                  <a:schemeClr val="bg2"/>
                </a:solidFill>
                <a:latin typeface="Source Sans 3" panose="020B0303030403020204" pitchFamily="34" charset="0"/>
              </a:rPr>
              <a:t> on-site</a:t>
            </a:r>
            <a:endParaRPr lang="en-US" sz="2400" dirty="0">
              <a:solidFill>
                <a:schemeClr val="bg2"/>
              </a:solidFill>
              <a:latin typeface="Source Sans 3" panose="020B03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65388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fik 7">
            <a:extLst>
              <a:ext uri="{FF2B5EF4-FFF2-40B4-BE49-F238E27FC236}">
                <a16:creationId xmlns:a16="http://schemas.microsoft.com/office/drawing/2014/main" id="{96678739-694B-410A-B219-CCE756516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817" r="6749"/>
          <a:stretch/>
        </p:blipFill>
        <p:spPr>
          <a:xfrm>
            <a:off x="5578410" y="1624775"/>
            <a:ext cx="5893988" cy="372069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Textfeld 9">
            <a:extLst>
              <a:ext uri="{FF2B5EF4-FFF2-40B4-BE49-F238E27FC236}">
                <a16:creationId xmlns:a16="http://schemas.microsoft.com/office/drawing/2014/main" id="{38B5F300-D594-40EF-B91A-C090397574D0}"/>
              </a:ext>
            </a:extLst>
          </p:cNvPr>
          <p:cNvSpPr txBox="1"/>
          <p:nvPr/>
        </p:nvSpPr>
        <p:spPr>
          <a:xfrm>
            <a:off x="8369956" y="5345466"/>
            <a:ext cx="33831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>
                <a:latin typeface="Source Sans Pro Light" panose="020B0403030403020204" pitchFamily="34" charset="0"/>
                <a:ea typeface="Source Sans Pro Light" panose="020B0403030403020204" pitchFamily="34" charset="0"/>
                <a:hlinkClick r:id="rId3"/>
              </a:rPr>
              <a:t>https://www.openmicroscopy.org/omero/</a:t>
            </a:r>
            <a:r>
              <a:rPr lang="de-DE" dirty="0">
                <a:latin typeface="Source Sans Pro Light" panose="020B0403030403020204" pitchFamily="34" charset="0"/>
                <a:ea typeface="Source Sans Pro Light" panose="020B0403030403020204" pitchFamily="34" charset="0"/>
              </a:rPr>
              <a:t> </a:t>
            </a:r>
          </a:p>
        </p:txBody>
      </p:sp>
      <p:sp>
        <p:nvSpPr>
          <p:cNvPr id="15" name="Titel 3">
            <a:extLst>
              <a:ext uri="{FF2B5EF4-FFF2-40B4-BE49-F238E27FC236}">
                <a16:creationId xmlns:a16="http://schemas.microsoft.com/office/drawing/2014/main" id="{B7719DB9-6E35-45CF-AA1E-A5FA1F999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1467" y="-8565"/>
            <a:ext cx="8450516" cy="1325563"/>
          </a:xfrm>
        </p:spPr>
        <p:txBody>
          <a:bodyPr/>
          <a:lstStyle/>
          <a:p>
            <a:r>
              <a:rPr lang="de-DE" dirty="0"/>
              <a:t>Image </a:t>
            </a:r>
            <a:r>
              <a:rPr lang="de-DE" dirty="0" err="1"/>
              <a:t>management</a:t>
            </a:r>
            <a:r>
              <a:rPr lang="de-DE" dirty="0"/>
              <a:t> </a:t>
            </a:r>
            <a:r>
              <a:rPr lang="de-DE" dirty="0" err="1"/>
              <a:t>software</a:t>
            </a:r>
            <a:r>
              <a:rPr lang="de-DE" dirty="0"/>
              <a:t> - OMERO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35AE4065-379F-4EAE-82EC-E2A8FE355291}"/>
              </a:ext>
            </a:extLst>
          </p:cNvPr>
          <p:cNvSpPr txBox="1">
            <a:spLocks/>
          </p:cNvSpPr>
          <p:nvPr/>
        </p:nvSpPr>
        <p:spPr>
          <a:xfrm>
            <a:off x="1185301" y="1946698"/>
            <a:ext cx="3271099" cy="72744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9pPr>
          </a:lstStyle>
          <a:p>
            <a:pPr marL="0" indent="0">
              <a:buNone/>
            </a:pPr>
            <a:r>
              <a:rPr lang="de-DE" b="1" dirty="0">
                <a:latin typeface="Source Sans 3 Light" panose="020B0303030403020204" pitchFamily="34" charset="0"/>
              </a:rPr>
              <a:t>FAIR </a:t>
            </a:r>
            <a:r>
              <a:rPr lang="de-DE" b="1" dirty="0" err="1">
                <a:latin typeface="Source Sans 3 Light" panose="020B0303030403020204" pitchFamily="34" charset="0"/>
              </a:rPr>
              <a:t>tip</a:t>
            </a:r>
            <a:r>
              <a:rPr lang="de-DE" dirty="0">
                <a:latin typeface="Source Sans 3 Light" panose="020B0303030403020204" pitchFamily="34" charset="0"/>
              </a:rPr>
              <a:t>: and </a:t>
            </a:r>
            <a:r>
              <a:rPr lang="en-US" dirty="0">
                <a:latin typeface="Source Sans 3 Light" panose="020B0303030403020204" pitchFamily="34" charset="0"/>
              </a:rPr>
              <a:t>consider using an image management software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793C8C4-D2F0-4D7B-8F50-F7A0527D9B5D}"/>
              </a:ext>
            </a:extLst>
          </p:cNvPr>
          <p:cNvSpPr txBox="1"/>
          <p:nvPr/>
        </p:nvSpPr>
        <p:spPr>
          <a:xfrm>
            <a:off x="891467" y="3529584"/>
            <a:ext cx="4078224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latin typeface="Source Sans Pro Light" panose="020B0403030403020204" pitchFamily="34" charset="0"/>
                <a:ea typeface="Source Sans Pro Light" panose="020B0403030403020204" pitchFamily="34" charset="0"/>
              </a:rPr>
              <a:t>Visualize, manage, annotate, and share </a:t>
            </a:r>
            <a:r>
              <a:rPr lang="en-US" sz="1600" dirty="0">
                <a:latin typeface="Source Sans Pro Light" panose="020B0403030403020204" pitchFamily="34" charset="0"/>
                <a:ea typeface="Source Sans Pro Light" panose="020B0403030403020204" pitchFamily="34" charset="0"/>
              </a:rPr>
              <a:t>scientific image data from anywhere in the centralized, </a:t>
            </a:r>
            <a:r>
              <a:rPr lang="en-US" sz="1600" b="1" dirty="0">
                <a:latin typeface="Source Sans Pro Light" panose="020B0403030403020204" pitchFamily="34" charset="0"/>
                <a:ea typeface="Source Sans Pro Light" panose="020B0403030403020204" pitchFamily="34" charset="0"/>
              </a:rPr>
              <a:t>client-server platform </a:t>
            </a:r>
            <a:r>
              <a:rPr lang="en-US" sz="1600" dirty="0">
                <a:latin typeface="Source Sans Pro Light" panose="020B0403030403020204" pitchFamily="34" charset="0"/>
                <a:ea typeface="Source Sans Pro Light" panose="020B0403030403020204" pitchFamily="34" charset="0"/>
              </a:rPr>
              <a:t>OMERO.</a:t>
            </a:r>
          </a:p>
          <a:p>
            <a:endParaRPr lang="en-US" sz="1600" dirty="0">
              <a:latin typeface="Source Sans Pro Light" panose="020B0403030403020204" pitchFamily="34" charset="0"/>
              <a:ea typeface="Source Sans Pro Light" panose="020B0403030403020204" pitchFamily="34" charset="0"/>
            </a:endParaRPr>
          </a:p>
          <a:p>
            <a:r>
              <a:rPr lang="en-US" sz="1600" dirty="0">
                <a:latin typeface="Source Sans Pro Light" panose="020B0403030403020204" pitchFamily="34" charset="0"/>
                <a:ea typeface="Source Sans Pro Light" panose="020B0403030403020204" pitchFamily="34" charset="0"/>
              </a:rPr>
              <a:t>Stores acquisition metadata and user-added annotations</a:t>
            </a:r>
            <a:r>
              <a:rPr lang="de-DE" sz="1600" dirty="0">
                <a:latin typeface="Source Sans Pro Light" panose="020B0403030403020204" pitchFamily="34" charset="0"/>
                <a:ea typeface="Source Sans Pro Light" panose="020B0403030403020204" pitchFamily="34" charset="0"/>
              </a:rPr>
              <a:t> (like </a:t>
            </a:r>
            <a:r>
              <a:rPr lang="en-US" sz="1600" dirty="0">
                <a:latin typeface="Source Sans Pro Light" panose="020B0403030403020204" pitchFamily="34" charset="0"/>
                <a:ea typeface="Source Sans Pro Light" panose="020B0403030403020204" pitchFamily="34" charset="0"/>
              </a:rPr>
              <a:t>ROI &amp; Segmentations) in relational database</a:t>
            </a:r>
          </a:p>
        </p:txBody>
      </p:sp>
    </p:spTree>
    <p:extLst>
      <p:ext uri="{BB962C8B-B14F-4D97-AF65-F5344CB8AC3E}">
        <p14:creationId xmlns:p14="http://schemas.microsoft.com/office/powerpoint/2010/main" val="27043048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985E6D5D-2423-4264-907C-1A330D5F54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>
            <a:normAutofit/>
          </a:bodyPr>
          <a:lstStyle/>
          <a:p>
            <a:r>
              <a:rPr lang="de-DE" sz="4400" i="1" dirty="0"/>
              <a:t>In </a:t>
            </a:r>
            <a:r>
              <a:rPr lang="de-DE" sz="4400" i="1" dirty="0" err="1"/>
              <a:t>your</a:t>
            </a:r>
            <a:r>
              <a:rPr lang="de-DE" sz="4400" i="1" dirty="0"/>
              <a:t> </a:t>
            </a:r>
            <a:r>
              <a:rPr lang="de-DE" sz="4400" i="1" dirty="0" err="1"/>
              <a:t>opinion</a:t>
            </a:r>
            <a:r>
              <a:rPr lang="de-DE" sz="4400" i="1" dirty="0"/>
              <a:t>: </a:t>
            </a:r>
            <a:br>
              <a:rPr lang="de-DE" sz="4400" dirty="0"/>
            </a:br>
            <a:r>
              <a:rPr lang="de-DE" sz="4400" dirty="0" err="1"/>
              <a:t>What</a:t>
            </a:r>
            <a:r>
              <a:rPr lang="de-DE" sz="4400" dirty="0"/>
              <a:t> </a:t>
            </a:r>
            <a:r>
              <a:rPr lang="de-DE" sz="4400" dirty="0" err="1"/>
              <a:t>are</a:t>
            </a:r>
            <a:r>
              <a:rPr lang="de-DE" sz="4400" dirty="0"/>
              <a:t> </a:t>
            </a:r>
            <a:r>
              <a:rPr lang="de-DE" sz="4400" dirty="0" err="1"/>
              <a:t>the</a:t>
            </a:r>
            <a:r>
              <a:rPr lang="de-DE" sz="4400" dirty="0"/>
              <a:t> </a:t>
            </a:r>
            <a:r>
              <a:rPr lang="de-DE" sz="4400" dirty="0" err="1"/>
              <a:t>benefits</a:t>
            </a:r>
            <a:r>
              <a:rPr lang="de-DE" sz="4400" dirty="0"/>
              <a:t> </a:t>
            </a:r>
            <a:r>
              <a:rPr lang="de-DE" sz="4400" dirty="0" err="1"/>
              <a:t>of</a:t>
            </a:r>
            <a:r>
              <a:rPr lang="de-DE" sz="4400" dirty="0"/>
              <a:t> FAIR </a:t>
            </a:r>
            <a:r>
              <a:rPr lang="de-DE" sz="4400" dirty="0" err="1"/>
              <a:t>data</a:t>
            </a:r>
            <a:r>
              <a:rPr lang="de-DE" sz="4400" dirty="0"/>
              <a:t>? </a:t>
            </a:r>
            <a:endParaRPr lang="en-US" sz="4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54EB99-0CF0-4358-A891-E5D974FFF93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3000"/>
          </a:blip>
          <a:stretch>
            <a:fillRect/>
          </a:stretch>
        </p:blipFill>
        <p:spPr>
          <a:xfrm>
            <a:off x="6933460" y="732331"/>
            <a:ext cx="4001655" cy="3220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52986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0130C17-C715-4CD8-A067-14254A94BDB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94" t="9680" r="2718" b="4258"/>
          <a:stretch/>
        </p:blipFill>
        <p:spPr>
          <a:xfrm>
            <a:off x="140444" y="239786"/>
            <a:ext cx="11629749" cy="5424256"/>
          </a:xfrm>
          <a:prstGeom prst="rect">
            <a:avLst/>
          </a:prstGeom>
        </p:spPr>
      </p:pic>
      <p:grpSp>
        <p:nvGrpSpPr>
          <p:cNvPr id="3" name="Gruppieren 21">
            <a:extLst>
              <a:ext uri="{FF2B5EF4-FFF2-40B4-BE49-F238E27FC236}">
                <a16:creationId xmlns:a16="http://schemas.microsoft.com/office/drawing/2014/main" id="{C0EA09FF-DE2B-416E-BD62-93A023EE430A}"/>
              </a:ext>
            </a:extLst>
          </p:cNvPr>
          <p:cNvGrpSpPr/>
          <p:nvPr/>
        </p:nvGrpSpPr>
        <p:grpSpPr>
          <a:xfrm>
            <a:off x="8621687" y="5686236"/>
            <a:ext cx="3217653" cy="653032"/>
            <a:chOff x="8134710" y="3550147"/>
            <a:chExt cx="3217653" cy="653032"/>
          </a:xfrm>
        </p:grpSpPr>
        <p:sp>
          <p:nvSpPr>
            <p:cNvPr id="4" name="Rechteck: abgerundete Ecken 25">
              <a:extLst>
                <a:ext uri="{FF2B5EF4-FFF2-40B4-BE49-F238E27FC236}">
                  <a16:creationId xmlns:a16="http://schemas.microsoft.com/office/drawing/2014/main" id="{086F9721-0B00-485C-AD01-806F87F1B6B3}"/>
                </a:ext>
              </a:extLst>
            </p:cNvPr>
            <p:cNvSpPr/>
            <p:nvPr/>
          </p:nvSpPr>
          <p:spPr>
            <a:xfrm>
              <a:off x="8134710" y="3550147"/>
              <a:ext cx="3217653" cy="646328"/>
            </a:xfrm>
            <a:prstGeom prst="roundRect">
              <a:avLst/>
            </a:prstGeom>
            <a:solidFill>
              <a:srgbClr val="FF6DA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" name="Textfeld 28">
              <a:extLst>
                <a:ext uri="{FF2B5EF4-FFF2-40B4-BE49-F238E27FC236}">
                  <a16:creationId xmlns:a16="http://schemas.microsoft.com/office/drawing/2014/main" id="{74A4232A-F6D4-4AD4-8666-E18D16ECED25}"/>
                </a:ext>
              </a:extLst>
            </p:cNvPr>
            <p:cNvSpPr txBox="1"/>
            <p:nvPr/>
          </p:nvSpPr>
          <p:spPr>
            <a:xfrm>
              <a:off x="8151181" y="3556848"/>
              <a:ext cx="3175302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de-DE" sz="1800" dirty="0">
                  <a:solidFill>
                    <a:schemeClr val="bg1"/>
                  </a:solidFill>
                  <a:latin typeface="Source Sans Pro Light" panose="020B0403030403020204" pitchFamily="34" charset="0"/>
                </a:rPr>
                <a:t>In </a:t>
              </a:r>
              <a:r>
                <a:rPr lang="de-DE" sz="1800" dirty="0" err="1">
                  <a:solidFill>
                    <a:schemeClr val="bg1"/>
                  </a:solidFill>
                  <a:latin typeface="Source Sans Pro Light" panose="020B0403030403020204" pitchFamily="34" charset="0"/>
                </a:rPr>
                <a:t>the</a:t>
              </a:r>
              <a:r>
                <a:rPr lang="de-DE" sz="1800" dirty="0">
                  <a:solidFill>
                    <a:schemeClr val="bg1"/>
                  </a:solidFill>
                  <a:latin typeface="Source Sans Pro Light" panose="020B0403030403020204" pitchFamily="34" charset="0"/>
                </a:rPr>
                <a:t> </a:t>
              </a:r>
              <a:r>
                <a:rPr lang="de-DE" sz="1800" dirty="0" err="1">
                  <a:solidFill>
                    <a:schemeClr val="bg1"/>
                  </a:solidFill>
                  <a:latin typeface="Source Sans Pro Light" panose="020B0403030403020204" pitchFamily="34" charset="0"/>
                </a:rPr>
                <a:t>future</a:t>
              </a:r>
              <a:r>
                <a:rPr lang="de-DE" sz="1800" dirty="0">
                  <a:solidFill>
                    <a:schemeClr val="bg1"/>
                  </a:solidFill>
                  <a:latin typeface="Source Sans Pro Light" panose="020B0403030403020204" pitchFamily="34" charset="0"/>
                </a:rPr>
                <a:t>, FAIR will </a:t>
              </a:r>
              <a:r>
                <a:rPr lang="de-DE" sz="1800" dirty="0" err="1">
                  <a:solidFill>
                    <a:schemeClr val="bg1"/>
                  </a:solidFill>
                  <a:latin typeface="Source Sans Pro Light" panose="020B0403030403020204" pitchFamily="34" charset="0"/>
                </a:rPr>
                <a:t>no</a:t>
              </a:r>
              <a:r>
                <a:rPr lang="de-DE" sz="1800" dirty="0">
                  <a:solidFill>
                    <a:schemeClr val="bg1"/>
                  </a:solidFill>
                  <a:latin typeface="Source Sans Pro Light" panose="020B0403030403020204" pitchFamily="34" charset="0"/>
                </a:rPr>
                <a:t> </a:t>
              </a:r>
              <a:r>
                <a:rPr lang="de-DE" sz="1800" dirty="0" err="1">
                  <a:solidFill>
                    <a:schemeClr val="bg1"/>
                  </a:solidFill>
                  <a:latin typeface="Source Sans Pro Light" panose="020B0403030403020204" pitchFamily="34" charset="0"/>
                </a:rPr>
                <a:t>longer</a:t>
              </a:r>
              <a:r>
                <a:rPr lang="de-DE" sz="1800" dirty="0">
                  <a:solidFill>
                    <a:schemeClr val="bg1"/>
                  </a:solidFill>
                  <a:latin typeface="Source Sans Pro Light" panose="020B0403030403020204" pitchFamily="34" charset="0"/>
                </a:rPr>
                <a:t> </a:t>
              </a:r>
              <a:r>
                <a:rPr lang="de-DE" sz="1800" dirty="0" err="1">
                  <a:solidFill>
                    <a:schemeClr val="bg1"/>
                  </a:solidFill>
                  <a:latin typeface="Source Sans Pro Light" panose="020B0403030403020204" pitchFamily="34" charset="0"/>
                </a:rPr>
                <a:t>be</a:t>
              </a:r>
              <a:r>
                <a:rPr lang="de-DE" sz="1800" dirty="0">
                  <a:solidFill>
                    <a:schemeClr val="bg1"/>
                  </a:solidFill>
                  <a:latin typeface="Source Sans Pro Light" panose="020B0403030403020204" pitchFamily="34" charset="0"/>
                </a:rPr>
                <a:t> a </a:t>
              </a:r>
              <a:r>
                <a:rPr lang="de-DE" sz="1800" dirty="0" err="1">
                  <a:solidFill>
                    <a:schemeClr val="bg1"/>
                  </a:solidFill>
                  <a:latin typeface="Source Sans Pro Light" panose="020B0403030403020204" pitchFamily="34" charset="0"/>
                </a:rPr>
                <a:t>choice</a:t>
              </a:r>
              <a:r>
                <a:rPr lang="de-DE" sz="1800" dirty="0">
                  <a:solidFill>
                    <a:schemeClr val="bg1"/>
                  </a:solidFill>
                  <a:latin typeface="Source Sans Pro Light" panose="020B0403030403020204" pitchFamily="34" charset="0"/>
                </a:rPr>
                <a:t> but a </a:t>
              </a:r>
              <a:r>
                <a:rPr lang="de-DE" sz="1800" b="1" dirty="0" err="1">
                  <a:solidFill>
                    <a:schemeClr val="bg1"/>
                  </a:solidFill>
                  <a:latin typeface="Source Sans Pro Light" panose="020B0403030403020204" pitchFamily="34" charset="0"/>
                </a:rPr>
                <a:t>requirement</a:t>
              </a:r>
              <a:r>
                <a:rPr lang="de-DE" sz="1800" dirty="0">
                  <a:solidFill>
                    <a:schemeClr val="bg1"/>
                  </a:solidFill>
                  <a:latin typeface="Source Sans Pro Light" panose="020B0403030403020204" pitchFamily="34" charset="0"/>
                </a:rPr>
                <a:t>!</a:t>
              </a:r>
              <a:endParaRPr lang="de-DE" sz="180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81268100"/>
      </p:ext>
    </p:extLst>
  </p:cSld>
  <p:clrMapOvr>
    <a:masterClrMapping/>
  </p:clrMapOvr>
</p:sld>
</file>

<file path=ppt/theme/theme1.xml><?xml version="1.0" encoding="utf-8"?>
<a:theme xmlns:a="http://schemas.openxmlformats.org/drawingml/2006/main" name="Euro-BioImaging Light theme">
  <a:themeElements>
    <a:clrScheme name="Euro-BioImaging Color Theme">
      <a:dk1>
        <a:srgbClr val="202428"/>
      </a:dk1>
      <a:lt1>
        <a:srgbClr val="F8F9FA"/>
      </a:lt1>
      <a:dk2>
        <a:srgbClr val="225470"/>
      </a:dk2>
      <a:lt2>
        <a:srgbClr val="E4E5E6"/>
      </a:lt2>
      <a:accent1>
        <a:srgbClr val="9BC433"/>
      </a:accent1>
      <a:accent2>
        <a:srgbClr val="13A337"/>
      </a:accent2>
      <a:accent3>
        <a:srgbClr val="27BCB7"/>
      </a:accent3>
      <a:accent4>
        <a:srgbClr val="ED90B0"/>
      </a:accent4>
      <a:accent5>
        <a:srgbClr val="81C3EE"/>
      </a:accent5>
      <a:accent6>
        <a:srgbClr val="989898"/>
      </a:accent6>
      <a:hlink>
        <a:srgbClr val="225470"/>
      </a:hlink>
      <a:folHlink>
        <a:srgbClr val="22547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486</Words>
  <Application>Microsoft Office PowerPoint</Application>
  <PresentationFormat>Widescreen</PresentationFormat>
  <Paragraphs>90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Source Sans 3</vt:lpstr>
      <vt:lpstr>Arial</vt:lpstr>
      <vt:lpstr>Source Sans Pro Light</vt:lpstr>
      <vt:lpstr>Source Sans 3 Light</vt:lpstr>
      <vt:lpstr>Source Sans Pro</vt:lpstr>
      <vt:lpstr>Calibri</vt:lpstr>
      <vt:lpstr>Poppins</vt:lpstr>
      <vt:lpstr>Euro-BioImaging Light theme</vt:lpstr>
      <vt:lpstr>PowerPoint Presentation</vt:lpstr>
      <vt:lpstr>This workshop</vt:lpstr>
      <vt:lpstr>What is FAIR?</vt:lpstr>
      <vt:lpstr>PowerPoint Presentation</vt:lpstr>
      <vt:lpstr>PowerPoint Presentation</vt:lpstr>
      <vt:lpstr>PowerPoint Presentation</vt:lpstr>
      <vt:lpstr>PowerPoint Presentation</vt:lpstr>
      <vt:lpstr>Image management software - OMERO</vt:lpstr>
      <vt:lpstr>In your opinion:  What are the benefits of FAIR data?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Isabel Kemmer</dc:creator>
  <cp:lastModifiedBy>Isabel Marina Kemmer</cp:lastModifiedBy>
  <cp:revision>356</cp:revision>
  <dcterms:created xsi:type="dcterms:W3CDTF">2023-06-28T11:55:11Z</dcterms:created>
  <dcterms:modified xsi:type="dcterms:W3CDTF">2025-06-12T07:28:27Z</dcterms:modified>
</cp:coreProperties>
</file>